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20320000" cy="11430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687916" rtl="0" fontAlgn="auto" latinLnBrk="0" hangingPunct="0">
      <a:lnSpc>
        <a:spcPct val="100000"/>
      </a:lnSpc>
      <a:spcBef>
        <a:spcPts val="49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687916" rtl="0" fontAlgn="auto" latinLnBrk="0" hangingPunct="0">
      <a:lnSpc>
        <a:spcPct val="100000"/>
      </a:lnSpc>
      <a:spcBef>
        <a:spcPts val="49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687916" rtl="0" fontAlgn="auto" latinLnBrk="0" hangingPunct="0">
      <a:lnSpc>
        <a:spcPct val="100000"/>
      </a:lnSpc>
      <a:spcBef>
        <a:spcPts val="49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687916" rtl="0" fontAlgn="auto" latinLnBrk="0" hangingPunct="0">
      <a:lnSpc>
        <a:spcPct val="100000"/>
      </a:lnSpc>
      <a:spcBef>
        <a:spcPts val="49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687916" rtl="0" fontAlgn="auto" latinLnBrk="0" hangingPunct="0">
      <a:lnSpc>
        <a:spcPct val="100000"/>
      </a:lnSpc>
      <a:spcBef>
        <a:spcPts val="49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687916" rtl="0" fontAlgn="auto" latinLnBrk="0" hangingPunct="0">
      <a:lnSpc>
        <a:spcPct val="100000"/>
      </a:lnSpc>
      <a:spcBef>
        <a:spcPts val="49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687916" rtl="0" fontAlgn="auto" latinLnBrk="0" hangingPunct="0">
      <a:lnSpc>
        <a:spcPct val="100000"/>
      </a:lnSpc>
      <a:spcBef>
        <a:spcPts val="49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687916" rtl="0" fontAlgn="auto" latinLnBrk="0" hangingPunct="0">
      <a:lnSpc>
        <a:spcPct val="100000"/>
      </a:lnSpc>
      <a:spcBef>
        <a:spcPts val="49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687916" rtl="0" fontAlgn="auto" latinLnBrk="0" hangingPunct="0">
      <a:lnSpc>
        <a:spcPct val="100000"/>
      </a:lnSpc>
      <a:spcBef>
        <a:spcPts val="49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3175" cap="flat">
              <a:solidFill>
                <a:srgbClr val="B8B8B8"/>
              </a:solidFill>
              <a:prstDash val="solid"/>
              <a:miter lim="400000"/>
            </a:ln>
          </a:top>
          <a:bottom>
            <a:ln w="3175" cap="flat">
              <a:solidFill>
                <a:srgbClr val="B8B8B8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929292"/>
              </a:solidFill>
              <a:prstDash val="solid"/>
              <a:miter lim="400000"/>
            </a:ln>
          </a:left>
          <a:right>
            <a:ln w="3175" cap="flat">
              <a:solidFill>
                <a:srgbClr val="929292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929292"/>
              </a:solidFill>
              <a:prstDash val="solid"/>
              <a:miter lim="400000"/>
            </a:ln>
          </a:insideH>
          <a:insideV>
            <a:ln w="3175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3" name="Shape 1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 of 17. Editable text overlays on the approved visual system.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7" name="Shape 1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 of 17. Editable text overlays on the approved visual system.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2" name="Shape 1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 of 17. Editable text overlays on the approved visual system.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7" name="Shape 1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4 of 17. Editable text overlays on the approved visual system.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Shape 1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5 of 17. Editable text overlays on the approved visual system. The tool icons are separate, replaceable image objects for a client-specific stack.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1" name="Shape 1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6 of 17. Editable text overlays on the approved visual system.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1" name="Shape 2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7 of 17. Editable text overlays on the approved visual system.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Shape 2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8 of 17. Editable text overlays on the approved visual system.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4" name="Shape 2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9 of 17. Editable text overlays on the approved visual system.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6" name="Shape 2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10 of 17. Editable text overlays on the approved visual system.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6" name="Shape 2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11 of 17. Editable text overlays on the approved visual system.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5" name="Shape 2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12 of 17. Editable text overlays on the approved visual system.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0" name="Shape 2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13 of 17. Editable text overlays on the approved visual system.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5" name="Shape 25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14 of 17. Editable text overlays on the approved visual system.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4" name="Shape 2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15 of 17. Editable text overlays on the approved visual system.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9" name="Shape 2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16 of 17. Editable text overlays on the approved visual system.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9" name="Shape 28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17 of 17. Editable text overlays on the approved visual system. The tool icons are separate, replaceable image objects for a client-specific stack.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2928055" y="2548819"/>
            <a:ext cx="14463890" cy="3227918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2928055" y="5864930"/>
            <a:ext cx="14463890" cy="110243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0" algn="ctr">
              <a:spcBef>
                <a:spcPts val="0"/>
              </a:spcBef>
              <a:buSzTx/>
              <a:buNone/>
              <a:defRPr sz="4400"/>
            </a:lvl2pPr>
            <a:lvl3pPr marL="0" indent="0" algn="ctr">
              <a:spcBef>
                <a:spcPts val="0"/>
              </a:spcBef>
              <a:buSzTx/>
              <a:buNone/>
              <a:defRPr sz="4400"/>
            </a:lvl3pPr>
            <a:lvl4pPr marL="0" indent="0" algn="ctr">
              <a:spcBef>
                <a:spcPts val="0"/>
              </a:spcBef>
              <a:buSzTx/>
              <a:buNone/>
              <a:defRPr sz="4400"/>
            </a:lvl4pPr>
            <a:lvl5pPr marL="0" indent="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3864145" y="679097"/>
            <a:ext cx="12594167" cy="839611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134305" y="7558263"/>
            <a:ext cx="16051390" cy="1393473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2134305" y="8898819"/>
            <a:ext cx="16051390" cy="110243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0" algn="ctr">
              <a:spcBef>
                <a:spcPts val="0"/>
              </a:spcBef>
              <a:buSzTx/>
              <a:buNone/>
              <a:defRPr sz="4400"/>
            </a:lvl2pPr>
            <a:lvl3pPr marL="0" indent="0" algn="ctr">
              <a:spcBef>
                <a:spcPts val="0"/>
              </a:spcBef>
              <a:buSzTx/>
              <a:buNone/>
              <a:defRPr sz="4400"/>
            </a:lvl3pPr>
            <a:lvl4pPr marL="0" indent="0" algn="ctr">
              <a:spcBef>
                <a:spcPts val="0"/>
              </a:spcBef>
              <a:buSzTx/>
              <a:buNone/>
              <a:defRPr sz="4400"/>
            </a:lvl4pPr>
            <a:lvl5pPr marL="0" indent="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2928055" y="4101041"/>
            <a:ext cx="14463890" cy="322791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10600972" y="1613958"/>
            <a:ext cx="7963959" cy="796395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2839861" y="1613958"/>
            <a:ext cx="7099653" cy="3854098"/>
          </a:xfrm>
          <a:prstGeom prst="rect">
            <a:avLst/>
          </a:prstGeom>
        </p:spPr>
        <p:txBody>
          <a:bodyPr anchor="b"/>
          <a:lstStyle>
            <a:lvl1pPr>
              <a:defRPr sz="70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2839861" y="5485694"/>
            <a:ext cx="7099653" cy="397757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0" algn="ctr">
              <a:spcBef>
                <a:spcPts val="0"/>
              </a:spcBef>
              <a:buSzTx/>
              <a:buNone/>
              <a:defRPr sz="4400"/>
            </a:lvl2pPr>
            <a:lvl3pPr marL="0" indent="0" algn="ctr">
              <a:spcBef>
                <a:spcPts val="0"/>
              </a:spcBef>
              <a:buSzTx/>
              <a:buNone/>
              <a:defRPr sz="4400"/>
            </a:lvl3pPr>
            <a:lvl4pPr marL="0" indent="0" algn="ctr">
              <a:spcBef>
                <a:spcPts val="0"/>
              </a:spcBef>
              <a:buSzTx/>
              <a:buNone/>
              <a:defRPr sz="4400"/>
            </a:lvl4pPr>
            <a:lvl5pPr marL="0" indent="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xfrm>
            <a:off x="2866319" y="3139722"/>
            <a:ext cx="14587362" cy="6455834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9304513" y="3139722"/>
            <a:ext cx="9683751" cy="64558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quarter" idx="1"/>
          </p:nvPr>
        </p:nvSpPr>
        <p:spPr>
          <a:xfrm>
            <a:off x="2866319" y="3139722"/>
            <a:ext cx="7099654" cy="6455834"/>
          </a:xfrm>
          <a:prstGeom prst="rect">
            <a:avLst/>
          </a:prstGeom>
        </p:spPr>
        <p:txBody>
          <a:bodyPr/>
          <a:lstStyle>
            <a:lvl1pPr marL="441157" indent="-441157">
              <a:spcBef>
                <a:spcPts val="3700"/>
              </a:spcBef>
              <a:defRPr sz="3000"/>
            </a:lvl1pPr>
            <a:lvl2pPr marL="999957" indent="-441157">
              <a:spcBef>
                <a:spcPts val="3700"/>
              </a:spcBef>
              <a:defRPr sz="3000"/>
            </a:lvl2pPr>
            <a:lvl3pPr marL="1558757" indent="-441157">
              <a:spcBef>
                <a:spcPts val="3700"/>
              </a:spcBef>
              <a:defRPr sz="3000"/>
            </a:lvl3pPr>
            <a:lvl4pPr marL="2117557" indent="-441157">
              <a:spcBef>
                <a:spcPts val="3700"/>
              </a:spcBef>
              <a:defRPr sz="3000"/>
            </a:lvl4pPr>
            <a:lvl5pPr marL="2676357" indent="-441157">
              <a:spcBef>
                <a:spcPts val="3700"/>
              </a:spcBef>
              <a:defRPr sz="3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quarter" idx="1"/>
          </p:nvPr>
        </p:nvSpPr>
        <p:spPr>
          <a:xfrm>
            <a:off x="2866319" y="3139722"/>
            <a:ext cx="7099654" cy="6455834"/>
          </a:xfrm>
          <a:prstGeom prst="rect">
            <a:avLst/>
          </a:prstGeom>
        </p:spPr>
        <p:txBody>
          <a:bodyPr/>
          <a:lstStyle>
            <a:lvl1pPr marL="441157" indent="-441157">
              <a:spcBef>
                <a:spcPts val="3700"/>
              </a:spcBef>
              <a:defRPr sz="3000"/>
            </a:lvl1pPr>
            <a:lvl2pPr marL="999957" indent="-441157">
              <a:spcBef>
                <a:spcPts val="3700"/>
              </a:spcBef>
              <a:defRPr sz="3000"/>
            </a:lvl2pPr>
            <a:lvl3pPr marL="1558757" indent="-441157">
              <a:spcBef>
                <a:spcPts val="3700"/>
              </a:spcBef>
              <a:defRPr sz="3000"/>
            </a:lvl3pPr>
            <a:lvl4pPr marL="2117557" indent="-441157">
              <a:spcBef>
                <a:spcPts val="3700"/>
              </a:spcBef>
              <a:defRPr sz="3000"/>
            </a:lvl4pPr>
            <a:lvl5pPr marL="2676357" indent="-441157">
              <a:spcBef>
                <a:spcPts val="3700"/>
              </a:spcBef>
              <a:defRPr sz="3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quarter" idx="1"/>
          </p:nvPr>
        </p:nvSpPr>
        <p:spPr>
          <a:xfrm>
            <a:off x="2866319" y="3139722"/>
            <a:ext cx="7099654" cy="6455834"/>
          </a:xfrm>
          <a:prstGeom prst="rect">
            <a:avLst/>
          </a:prstGeom>
        </p:spPr>
        <p:txBody>
          <a:bodyPr/>
          <a:lstStyle>
            <a:lvl1pPr marL="441157" indent="-441157">
              <a:spcBef>
                <a:spcPts val="3700"/>
              </a:spcBef>
              <a:defRPr sz="3000"/>
            </a:lvl1pPr>
            <a:lvl2pPr marL="999957" indent="-441157">
              <a:spcBef>
                <a:spcPts val="3700"/>
              </a:spcBef>
              <a:defRPr sz="3000"/>
            </a:lvl2pPr>
            <a:lvl3pPr marL="1558757" indent="-441157">
              <a:spcBef>
                <a:spcPts val="3700"/>
              </a:spcBef>
              <a:defRPr sz="3000"/>
            </a:lvl3pPr>
            <a:lvl4pPr marL="2117557" indent="-441157">
              <a:spcBef>
                <a:spcPts val="3700"/>
              </a:spcBef>
              <a:defRPr sz="3000"/>
            </a:lvl4pPr>
            <a:lvl5pPr marL="2676357" indent="-441157">
              <a:spcBef>
                <a:spcPts val="3700"/>
              </a:spcBef>
              <a:defRPr sz="3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/>
          <p:nvPr>
            <p:ph type="pic" sz="quarter" idx="21"/>
          </p:nvPr>
        </p:nvSpPr>
        <p:spPr>
          <a:xfrm>
            <a:off x="12318558" y="5847291"/>
            <a:ext cx="5781147" cy="385409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2" name="Heron flying low over a beach with a short fence in the foreground"/>
          <p:cNvSpPr/>
          <p:nvPr>
            <p:ph type="pic" sz="quarter" idx="22"/>
          </p:nvPr>
        </p:nvSpPr>
        <p:spPr>
          <a:xfrm>
            <a:off x="12638263" y="1552222"/>
            <a:ext cx="5141737" cy="514173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View of beach and sea from a grassy sand dune"/>
          <p:cNvSpPr/>
          <p:nvPr>
            <p:ph type="pic" idx="23"/>
          </p:nvPr>
        </p:nvSpPr>
        <p:spPr>
          <a:xfrm>
            <a:off x="1005417" y="1737430"/>
            <a:ext cx="11945938" cy="796395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/>
          <p:nvPr>
            <p:ph type="body" sz="quarter" idx="21"/>
          </p:nvPr>
        </p:nvSpPr>
        <p:spPr>
          <a:xfrm>
            <a:off x="3351389" y="7170208"/>
            <a:ext cx="13626042" cy="46771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26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112" name="“Type a quote here.”"/>
          <p:cNvSpPr txBox="1"/>
          <p:nvPr>
            <p:ph type="body" sz="quarter" idx="22"/>
          </p:nvPr>
        </p:nvSpPr>
        <p:spPr>
          <a:xfrm>
            <a:off x="3351389" y="5120176"/>
            <a:ext cx="13626042" cy="6781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/>
          <p:nvPr>
            <p:ph type="pic" idx="21"/>
          </p:nvPr>
        </p:nvSpPr>
        <p:spPr>
          <a:xfrm>
            <a:off x="1658055" y="70555"/>
            <a:ext cx="17003890" cy="1133592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/>
          </p:nvPr>
        </p:nvSpPr>
        <p:spPr>
          <a:xfrm>
            <a:off x="2866319" y="2187222"/>
            <a:ext cx="14587362" cy="7055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2866319" y="1199444"/>
            <a:ext cx="14587362" cy="15875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9972738" y="10036527"/>
            <a:ext cx="365705" cy="367989"/>
          </a:xfrm>
          <a:prstGeom prst="rect">
            <a:avLst/>
          </a:prstGeom>
          <a:ln w="3175">
            <a:miter lim="400000"/>
          </a:ln>
        </p:spPr>
        <p:txBody>
          <a:bodyPr wrap="none" lIns="35277" tIns="35277" rIns="35277" bIns="35277">
            <a:spAutoFit/>
          </a:bodyPr>
          <a:lstStyle>
            <a:lvl1pPr algn="ctr">
              <a:spcBef>
                <a:spcPts val="0"/>
              </a:spcBef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68791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200" u="none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0" marR="0" indent="457200" algn="ctr" defTabSz="68791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200" u="none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0" marR="0" indent="914400" algn="ctr" defTabSz="68791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200" u="none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0" marR="0" indent="1371600" algn="ctr" defTabSz="68791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200" u="none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0" marR="0" indent="1828800" algn="ctr" defTabSz="68791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200" u="none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0" marR="0" indent="2286000" algn="ctr" defTabSz="68791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200" u="none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0" marR="0" indent="2743200" algn="ctr" defTabSz="68791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200" u="none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0" marR="0" indent="3200400" algn="ctr" defTabSz="68791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200" u="none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0" marR="0" indent="3657600" algn="ctr" defTabSz="68791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200" u="none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titleStyle>
    <p:bodyStyle>
      <a:lvl1pPr marL="529166" marR="0" indent="-529166" algn="l" defTabSz="687916" rtl="0" latinLnBrk="0">
        <a:lnSpc>
          <a:spcPct val="100000"/>
        </a:lnSpc>
        <a:spcBef>
          <a:spcPts val="4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164166" marR="0" indent="-529166" algn="l" defTabSz="687916" rtl="0" latinLnBrk="0">
        <a:lnSpc>
          <a:spcPct val="100000"/>
        </a:lnSpc>
        <a:spcBef>
          <a:spcPts val="4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799166" marR="0" indent="-529166" algn="l" defTabSz="687916" rtl="0" latinLnBrk="0">
        <a:lnSpc>
          <a:spcPct val="100000"/>
        </a:lnSpc>
        <a:spcBef>
          <a:spcPts val="4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434166" marR="0" indent="-529166" algn="l" defTabSz="687916" rtl="0" latinLnBrk="0">
        <a:lnSpc>
          <a:spcPct val="100000"/>
        </a:lnSpc>
        <a:spcBef>
          <a:spcPts val="4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069166" marR="0" indent="-529166" algn="l" defTabSz="687916" rtl="0" latinLnBrk="0">
        <a:lnSpc>
          <a:spcPct val="100000"/>
        </a:lnSpc>
        <a:spcBef>
          <a:spcPts val="4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704166" marR="0" indent="-529166" algn="l" defTabSz="687916" rtl="0" latinLnBrk="0">
        <a:lnSpc>
          <a:spcPct val="100000"/>
        </a:lnSpc>
        <a:spcBef>
          <a:spcPts val="4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339166" marR="0" indent="-529166" algn="l" defTabSz="687916" rtl="0" latinLnBrk="0">
        <a:lnSpc>
          <a:spcPct val="100000"/>
        </a:lnSpc>
        <a:spcBef>
          <a:spcPts val="4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974166" marR="0" indent="-529166" algn="l" defTabSz="687916" rtl="0" latinLnBrk="0">
        <a:lnSpc>
          <a:spcPct val="100000"/>
        </a:lnSpc>
        <a:spcBef>
          <a:spcPts val="4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609166" marR="0" indent="-529166" algn="l" defTabSz="687916" rtl="0" latinLnBrk="0">
        <a:lnSpc>
          <a:spcPct val="100000"/>
        </a:lnSpc>
        <a:spcBef>
          <a:spcPts val="4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6879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6879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6879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6879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6879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6879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6879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6879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6879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01.png" descr="0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sp>
        <p:nvSpPr>
          <p:cNvPr id="138" name="Scheduled tasks make repeated work easier to trust."/>
          <p:cNvSpPr txBox="1"/>
          <p:nvPr/>
        </p:nvSpPr>
        <p:spPr>
          <a:xfrm>
            <a:off x="1524000" y="1158522"/>
            <a:ext cx="17589500" cy="1924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6403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Scheduled tasks make repeated work easier to trust.</a:t>
            </a:r>
          </a:p>
        </p:txBody>
      </p:sp>
      <p:sp>
        <p:nvSpPr>
          <p:cNvPr id="139" name="Use them for scans, triage, reminders, and recurring checks that should run with project context."/>
          <p:cNvSpPr txBox="1"/>
          <p:nvPr/>
        </p:nvSpPr>
        <p:spPr>
          <a:xfrm>
            <a:off x="1524000" y="3787422"/>
            <a:ext cx="7670800" cy="1632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973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Use them for scans, triage, reminders, and recurring checks that should run with project context.</a:t>
            </a:r>
          </a:p>
        </p:txBody>
      </p:sp>
      <p:sp>
        <p:nvSpPr>
          <p:cNvPr id="140" name="Bespoke tasks stay close to the project."/>
          <p:cNvSpPr txBox="1"/>
          <p:nvPr/>
        </p:nvSpPr>
        <p:spPr>
          <a:xfrm>
            <a:off x="1993900" y="6136922"/>
            <a:ext cx="7810501" cy="476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326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Bespoke tasks stay close to the project.</a:t>
            </a:r>
          </a:p>
        </p:txBody>
      </p:sp>
      <p:sp>
        <p:nvSpPr>
          <p:cNvPr id="141" name="Reusable tasks handle the patterns you repeat."/>
          <p:cNvSpPr txBox="1"/>
          <p:nvPr/>
        </p:nvSpPr>
        <p:spPr>
          <a:xfrm>
            <a:off x="1993900" y="6746522"/>
            <a:ext cx="9220201" cy="476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326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Reusable tasks handle the patterns you repeat.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02.png" descr="0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sp>
        <p:nvSpPr>
          <p:cNvPr id="146" name="Build the system in Cowork Lab before you trust it with real work."/>
          <p:cNvSpPr txBox="1"/>
          <p:nvPr/>
        </p:nvSpPr>
        <p:spPr>
          <a:xfrm>
            <a:off x="1524000" y="1158522"/>
            <a:ext cx="17094201" cy="1924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6403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Build the system in Cowork Lab before you trust it with real work.</a:t>
            </a:r>
          </a:p>
        </p:txBody>
      </p:sp>
      <p:sp>
        <p:nvSpPr>
          <p:cNvPr id="147" name="Open Cowork Lab."/>
          <p:cNvSpPr txBox="1"/>
          <p:nvPr/>
        </p:nvSpPr>
        <p:spPr>
          <a:xfrm>
            <a:off x="2336799" y="3927122"/>
            <a:ext cx="3721101" cy="476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326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Open Cowork Lab.</a:t>
            </a:r>
          </a:p>
        </p:txBody>
      </p:sp>
      <p:sp>
        <p:nvSpPr>
          <p:cNvPr id="148" name="Reorganize the local files."/>
          <p:cNvSpPr txBox="1"/>
          <p:nvPr/>
        </p:nvSpPr>
        <p:spPr>
          <a:xfrm>
            <a:off x="2336800" y="4435122"/>
            <a:ext cx="5080000" cy="476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326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Reorganize the local files.</a:t>
            </a:r>
          </a:p>
        </p:txBody>
      </p:sp>
      <p:sp>
        <p:nvSpPr>
          <p:cNvPr id="149" name="Build your"/>
          <p:cNvSpPr txBox="1"/>
          <p:nvPr/>
        </p:nvSpPr>
        <p:spPr>
          <a:xfrm>
            <a:off x="2336800" y="4943122"/>
            <a:ext cx="2159000" cy="476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326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Build your</a:t>
            </a:r>
          </a:p>
        </p:txBody>
      </p:sp>
      <p:sp>
        <p:nvSpPr>
          <p:cNvPr id="150" name="/me"/>
          <p:cNvSpPr txBox="1"/>
          <p:nvPr/>
        </p:nvSpPr>
        <p:spPr>
          <a:xfrm>
            <a:off x="3949700" y="4943122"/>
            <a:ext cx="850900" cy="476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326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/me</a:t>
            </a:r>
          </a:p>
        </p:txBody>
      </p:sp>
      <p:sp>
        <p:nvSpPr>
          <p:cNvPr id="151" name="context."/>
          <p:cNvSpPr txBox="1"/>
          <p:nvPr/>
        </p:nvSpPr>
        <p:spPr>
          <a:xfrm>
            <a:off x="4533900" y="4943122"/>
            <a:ext cx="1790700" cy="476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326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context.</a:t>
            </a:r>
          </a:p>
        </p:txBody>
      </p:sp>
      <p:sp>
        <p:nvSpPr>
          <p:cNvPr id="152" name="Create one focused project."/>
          <p:cNvSpPr txBox="1"/>
          <p:nvPr/>
        </p:nvSpPr>
        <p:spPr>
          <a:xfrm>
            <a:off x="2336800" y="5451122"/>
            <a:ext cx="5511800" cy="476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326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Create one focused project.</a:t>
            </a:r>
          </a:p>
        </p:txBody>
      </p:sp>
      <p:sp>
        <p:nvSpPr>
          <p:cNvPr id="153" name="Sort obvious old chats."/>
          <p:cNvSpPr txBox="1"/>
          <p:nvPr/>
        </p:nvSpPr>
        <p:spPr>
          <a:xfrm>
            <a:off x="2336800" y="5946422"/>
            <a:ext cx="4546600" cy="476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326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Sort obvious old chats.</a:t>
            </a:r>
          </a:p>
        </p:txBody>
      </p:sp>
      <p:sp>
        <p:nvSpPr>
          <p:cNvPr id="154" name="Review the rest for patterns."/>
          <p:cNvSpPr txBox="1"/>
          <p:nvPr/>
        </p:nvSpPr>
        <p:spPr>
          <a:xfrm>
            <a:off x="2336800" y="6454422"/>
            <a:ext cx="5575300" cy="476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326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Review the rest for patterns.</a:t>
            </a:r>
          </a:p>
        </p:txBody>
      </p:sp>
      <p:sp>
        <p:nvSpPr>
          <p:cNvPr id="155" name="Bring friction back to the lab."/>
          <p:cNvSpPr txBox="1"/>
          <p:nvPr/>
        </p:nvSpPr>
        <p:spPr>
          <a:xfrm>
            <a:off x="2336800" y="6962422"/>
            <a:ext cx="5715000" cy="476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326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Bring friction back to the lab.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03.png" descr="0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sp>
        <p:nvSpPr>
          <p:cNvPr id="160" name="Moving up means adding to what you already do, not starting something new."/>
          <p:cNvSpPr txBox="1"/>
          <p:nvPr/>
        </p:nvSpPr>
        <p:spPr>
          <a:xfrm>
            <a:off x="1524000" y="853722"/>
            <a:ext cx="15951200" cy="1924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6403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Moving up means adding to what you already do, not starting something new.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04.png" descr="0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sp>
        <p:nvSpPr>
          <p:cNvPr id="165" name="A strong project puts instructions, context, and a visible trail in one place."/>
          <p:cNvSpPr txBox="1"/>
          <p:nvPr/>
        </p:nvSpPr>
        <p:spPr>
          <a:xfrm>
            <a:off x="1524000" y="1158522"/>
            <a:ext cx="17297401" cy="1924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6403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 strong project puts instructions, context, and a visible trail in one place.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05.png" descr="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pic>
        <p:nvPicPr>
          <p:cNvPr id="170" name="Approved Always Allow keycap background" descr="Approved Always Allow keycap background"/>
          <p:cNvPicPr>
            <a:picLocks noChangeAspect="1"/>
          </p:cNvPicPr>
          <p:nvPr/>
        </p:nvPicPr>
        <p:blipFill>
          <a:blip r:embed="rId4">
            <a:alphaModFix amt="8000"/>
            <a:extLst/>
          </a:blip>
          <a:stretch>
            <a:fillRect/>
          </a:stretch>
        </p:blipFill>
        <p:spPr>
          <a:xfrm>
            <a:off x="13525499" y="2603500"/>
            <a:ext cx="5720837" cy="4559300"/>
          </a:xfrm>
          <a:prstGeom prst="rect">
            <a:avLst/>
          </a:prstGeom>
          <a:ln w="3175">
            <a:miter lim="400000"/>
          </a:ln>
        </p:spPr>
      </p:pic>
      <p:sp>
        <p:nvSpPr>
          <p:cNvPr id="171" name="YOUR STACK"/>
          <p:cNvSpPr txBox="1"/>
          <p:nvPr/>
        </p:nvSpPr>
        <p:spPr>
          <a:xfrm>
            <a:off x="13779499" y="6727472"/>
            <a:ext cx="2794001" cy="311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1400">
                <a:solidFill>
                  <a:srgbClr val="5286A5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YOUR STACK</a:t>
            </a:r>
          </a:p>
        </p:txBody>
      </p:sp>
      <p:pic>
        <p:nvPicPr>
          <p:cNvPr id="172" name="Replaceable tech stack slot 1: Claude" descr="Replaceable tech stack slot 1: Claud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779500" y="7429500"/>
            <a:ext cx="558800" cy="558800"/>
          </a:xfrm>
          <a:prstGeom prst="rect">
            <a:avLst/>
          </a:prstGeom>
          <a:ln w="3175">
            <a:miter lim="400000"/>
          </a:ln>
        </p:spPr>
      </p:pic>
      <p:pic>
        <p:nvPicPr>
          <p:cNvPr id="173" name="Replaceable tech stack slot 2: Slack" descr="Replaceable tech stack slot 2: Slack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4516100" y="7429500"/>
            <a:ext cx="558800" cy="558800"/>
          </a:xfrm>
          <a:prstGeom prst="rect">
            <a:avLst/>
          </a:prstGeom>
          <a:ln w="3175">
            <a:miter lim="400000"/>
          </a:ln>
        </p:spPr>
      </p:pic>
      <p:pic>
        <p:nvPicPr>
          <p:cNvPr id="174" name="Replaceable tech stack slot 3: Notion" descr="Replaceable tech stack slot 3: Notion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5252700" y="7429499"/>
            <a:ext cx="558800" cy="558801"/>
          </a:xfrm>
          <a:prstGeom prst="rect">
            <a:avLst/>
          </a:prstGeom>
          <a:ln w="3175">
            <a:miter lim="400000"/>
          </a:ln>
        </p:spPr>
      </p:pic>
      <p:pic>
        <p:nvPicPr>
          <p:cNvPr id="175" name="Replaceable tech stack slot 4: Google Drive" descr="Replaceable tech stack slot 4: Google Drive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5989300" y="7429500"/>
            <a:ext cx="558800" cy="558800"/>
          </a:xfrm>
          <a:prstGeom prst="rect">
            <a:avLst/>
          </a:prstGeom>
          <a:ln w="3175">
            <a:miter lim="400000"/>
          </a:ln>
        </p:spPr>
      </p:pic>
      <p:pic>
        <p:nvPicPr>
          <p:cNvPr id="176" name="Replaceable tech stack slot 5: Gmail" descr="Replaceable tech stack slot 5: Gmail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6725900" y="7429499"/>
            <a:ext cx="687754" cy="558801"/>
          </a:xfrm>
          <a:prstGeom prst="rect">
            <a:avLst/>
          </a:prstGeom>
          <a:ln w="3175">
            <a:miter lim="400000"/>
          </a:ln>
        </p:spPr>
      </p:pic>
      <p:pic>
        <p:nvPicPr>
          <p:cNvPr id="177" name="Replaceable tech stack slot 6: ChatGPT" descr="Replaceable tech stack slot 6: ChatGPT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7462500" y="7429500"/>
            <a:ext cx="558800" cy="558800"/>
          </a:xfrm>
          <a:prstGeom prst="rect">
            <a:avLst/>
          </a:prstGeom>
          <a:ln w="3175">
            <a:miter lim="400000"/>
          </a:ln>
        </p:spPr>
      </p:pic>
      <p:pic>
        <p:nvPicPr>
          <p:cNvPr id="178" name="Replaceable tech stack slot 7: Codex" descr="Replaceable tech stack slot 7: Codex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8199100" y="7429500"/>
            <a:ext cx="558800" cy="558800"/>
          </a:xfrm>
          <a:prstGeom prst="rect">
            <a:avLst/>
          </a:prstGeom>
          <a:ln w="3175">
            <a:miter lim="400000"/>
          </a:ln>
        </p:spPr>
      </p:pic>
      <p:sp>
        <p:nvSpPr>
          <p:cNvPr id="179" name="PRIVATE WORKSHOP · SEPTEMBER 2026"/>
          <p:cNvSpPr txBox="1"/>
          <p:nvPr/>
        </p:nvSpPr>
        <p:spPr>
          <a:xfrm>
            <a:off x="5181599" y="790222"/>
            <a:ext cx="6464301" cy="3372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1546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PRIVATE WORKSHOP · SEPTEMBER 2026</a:t>
            </a:r>
          </a:p>
        </p:txBody>
      </p:sp>
      <p:sp>
        <p:nvSpPr>
          <p:cNvPr id="180" name="Build the"/>
          <p:cNvSpPr txBox="1"/>
          <p:nvPr/>
        </p:nvSpPr>
        <p:spPr>
          <a:xfrm>
            <a:off x="1524000" y="3247672"/>
            <a:ext cx="7721600" cy="1645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10893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Build the</a:t>
            </a:r>
          </a:p>
        </p:txBody>
      </p:sp>
      <p:sp>
        <p:nvSpPr>
          <p:cNvPr id="181" name="system."/>
          <p:cNvSpPr txBox="1"/>
          <p:nvPr/>
        </p:nvSpPr>
        <p:spPr>
          <a:xfrm>
            <a:off x="1524000" y="4682772"/>
            <a:ext cx="6692900" cy="1645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10893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system.</a:t>
            </a:r>
          </a:p>
        </p:txBody>
      </p:sp>
      <p:sp>
        <p:nvSpPr>
          <p:cNvPr id="182" name="A working session built around the work your team already does."/>
          <p:cNvSpPr txBox="1"/>
          <p:nvPr/>
        </p:nvSpPr>
        <p:spPr>
          <a:xfrm>
            <a:off x="1524000" y="6289322"/>
            <a:ext cx="12052300" cy="451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208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A working session built around the work your team already does.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06.png" descr="0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pic>
        <p:nvPicPr>
          <p:cNvPr id="187" name="Approved Always Allow keycap background" descr="Approved Always Allow keycap background"/>
          <p:cNvPicPr>
            <a:picLocks noChangeAspect="1"/>
          </p:cNvPicPr>
          <p:nvPr/>
        </p:nvPicPr>
        <p:blipFill>
          <a:blip r:embed="rId4">
            <a:alphaModFix amt="7000"/>
            <a:extLst/>
          </a:blip>
          <a:stretch>
            <a:fillRect/>
          </a:stretch>
        </p:blipFill>
        <p:spPr>
          <a:xfrm>
            <a:off x="13715999" y="2984500"/>
            <a:ext cx="5338386" cy="4254500"/>
          </a:xfrm>
          <a:prstGeom prst="rect">
            <a:avLst/>
          </a:prstGeom>
          <a:ln w="3175">
            <a:miter lim="400000"/>
          </a:ln>
        </p:spPr>
      </p:pic>
      <p:sp>
        <p:nvSpPr>
          <p:cNvPr id="188" name="The pattern is"/>
          <p:cNvSpPr txBox="1"/>
          <p:nvPr/>
        </p:nvSpPr>
        <p:spPr>
          <a:xfrm>
            <a:off x="1524000" y="3577872"/>
            <a:ext cx="9055101" cy="1251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8169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pattern is</a:t>
            </a:r>
          </a:p>
        </p:txBody>
      </p:sp>
      <p:sp>
        <p:nvSpPr>
          <p:cNvPr id="189" name="already in the work."/>
          <p:cNvSpPr txBox="1"/>
          <p:nvPr/>
        </p:nvSpPr>
        <p:spPr>
          <a:xfrm>
            <a:off x="1524000" y="4720872"/>
            <a:ext cx="12954001" cy="1251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8169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already in the work.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07.png" descr="0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pic>
        <p:nvPicPr>
          <p:cNvPr id="194" name="Approved Always Allow keycap background" descr="Approved Always Allow keycap background"/>
          <p:cNvPicPr>
            <a:picLocks noChangeAspect="1"/>
          </p:cNvPicPr>
          <p:nvPr/>
        </p:nvPicPr>
        <p:blipFill>
          <a:blip r:embed="rId4">
            <a:alphaModFix amt="7000"/>
            <a:extLst/>
          </a:blip>
          <a:stretch>
            <a:fillRect/>
          </a:stretch>
        </p:blipFill>
        <p:spPr>
          <a:xfrm>
            <a:off x="13715999" y="2730499"/>
            <a:ext cx="5338386" cy="4254501"/>
          </a:xfrm>
          <a:prstGeom prst="rect">
            <a:avLst/>
          </a:prstGeom>
          <a:ln w="3175">
            <a:miter lim="400000"/>
          </a:ln>
        </p:spPr>
      </p:pic>
      <p:sp>
        <p:nvSpPr>
          <p:cNvPr id="195" name="Direct"/>
          <p:cNvSpPr txBox="1"/>
          <p:nvPr/>
        </p:nvSpPr>
        <p:spPr>
          <a:xfrm>
            <a:off x="1524000" y="3171472"/>
            <a:ext cx="4051300" cy="1264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8243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Direct</a:t>
            </a:r>
          </a:p>
        </p:txBody>
      </p:sp>
      <p:sp>
        <p:nvSpPr>
          <p:cNvPr id="196" name="the work."/>
          <p:cNvSpPr txBox="1"/>
          <p:nvPr/>
        </p:nvSpPr>
        <p:spPr>
          <a:xfrm>
            <a:off x="4610100" y="3171472"/>
            <a:ext cx="6629401" cy="1264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8243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work.</a:t>
            </a:r>
          </a:p>
        </p:txBody>
      </p:sp>
      <p:sp>
        <p:nvSpPr>
          <p:cNvPr id="197" name="Do not decorate"/>
          <p:cNvSpPr txBox="1"/>
          <p:nvPr/>
        </p:nvSpPr>
        <p:spPr>
          <a:xfrm>
            <a:off x="1524000" y="4327172"/>
            <a:ext cx="10337800" cy="1264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8243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Do not decorate</a:t>
            </a:r>
          </a:p>
        </p:txBody>
      </p:sp>
      <p:sp>
        <p:nvSpPr>
          <p:cNvPr id="198" name="the answer."/>
          <p:cNvSpPr txBox="1"/>
          <p:nvPr/>
        </p:nvSpPr>
        <p:spPr>
          <a:xfrm>
            <a:off x="1524000" y="5495572"/>
            <a:ext cx="7518401" cy="1264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8243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answer.</a:t>
            </a:r>
          </a:p>
        </p:txBody>
      </p:sp>
      <p:sp>
        <p:nvSpPr>
          <p:cNvPr id="199" name="The instruction should carry judgement, boundaries, and the finish line."/>
          <p:cNvSpPr txBox="1"/>
          <p:nvPr/>
        </p:nvSpPr>
        <p:spPr>
          <a:xfrm>
            <a:off x="1524000" y="6854472"/>
            <a:ext cx="12801600" cy="438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134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The instruction should carry judgement, boundaries, and the finish line.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08.png" descr="0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sp>
        <p:nvSpPr>
          <p:cNvPr id="204" name="The output"/>
          <p:cNvSpPr txBox="1"/>
          <p:nvPr/>
        </p:nvSpPr>
        <p:spPr>
          <a:xfrm>
            <a:off x="1524000" y="3165122"/>
            <a:ext cx="4940301" cy="870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5594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output</a:t>
            </a:r>
          </a:p>
        </p:txBody>
      </p:sp>
      <p:sp>
        <p:nvSpPr>
          <p:cNvPr id="205" name="should show"/>
          <p:cNvSpPr txBox="1"/>
          <p:nvPr/>
        </p:nvSpPr>
        <p:spPr>
          <a:xfrm>
            <a:off x="1524000" y="3965222"/>
            <a:ext cx="5549900" cy="870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5594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should show</a:t>
            </a:r>
          </a:p>
        </p:txBody>
      </p:sp>
      <p:sp>
        <p:nvSpPr>
          <p:cNvPr id="206" name="its judgement."/>
          <p:cNvSpPr txBox="1"/>
          <p:nvPr/>
        </p:nvSpPr>
        <p:spPr>
          <a:xfrm>
            <a:off x="1524000" y="4778022"/>
            <a:ext cx="6375400" cy="870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5594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its judgement.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09.png" descr="0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sp>
        <p:nvSpPr>
          <p:cNvPr id="211" name="One line carries"/>
          <p:cNvSpPr txBox="1"/>
          <p:nvPr/>
        </p:nvSpPr>
        <p:spPr>
          <a:xfrm>
            <a:off x="1524000" y="3158772"/>
            <a:ext cx="9144000" cy="1124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7360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One line carries</a:t>
            </a:r>
          </a:p>
        </p:txBody>
      </p:sp>
      <p:sp>
        <p:nvSpPr>
          <p:cNvPr id="212" name="the whole handoff."/>
          <p:cNvSpPr txBox="1"/>
          <p:nvPr/>
        </p:nvSpPr>
        <p:spPr>
          <a:xfrm>
            <a:off x="1523999" y="4200172"/>
            <a:ext cx="10909301" cy="1124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7360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whole handoff.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10.png" descr="1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sp>
        <p:nvSpPr>
          <p:cNvPr id="217" name="BEFORE"/>
          <p:cNvSpPr txBox="1"/>
          <p:nvPr/>
        </p:nvSpPr>
        <p:spPr>
          <a:xfrm>
            <a:off x="1524000" y="2930172"/>
            <a:ext cx="1257300" cy="311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1398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BEFORE</a:t>
            </a:r>
          </a:p>
        </p:txBody>
      </p:sp>
      <p:sp>
        <p:nvSpPr>
          <p:cNvPr id="218" name="“Write me"/>
          <p:cNvSpPr txBox="1"/>
          <p:nvPr/>
        </p:nvSpPr>
        <p:spPr>
          <a:xfrm>
            <a:off x="1523999" y="4358922"/>
            <a:ext cx="4762501" cy="921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5888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“Write me</a:t>
            </a:r>
          </a:p>
        </p:txBody>
      </p:sp>
      <p:sp>
        <p:nvSpPr>
          <p:cNvPr id="219" name="an update.”"/>
          <p:cNvSpPr txBox="1"/>
          <p:nvPr/>
        </p:nvSpPr>
        <p:spPr>
          <a:xfrm>
            <a:off x="1523999" y="5209822"/>
            <a:ext cx="5321301" cy="921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5888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an update.”</a:t>
            </a:r>
          </a:p>
        </p:txBody>
      </p:sp>
      <p:sp>
        <p:nvSpPr>
          <p:cNvPr id="220" name="One request. One answer. The judgement stays hidden."/>
          <p:cNvSpPr txBox="1"/>
          <p:nvPr/>
        </p:nvSpPr>
        <p:spPr>
          <a:xfrm>
            <a:off x="1524000" y="6130572"/>
            <a:ext cx="8293100" cy="375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1766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One request. One answer. The judgement stays hidden.</a:t>
            </a:r>
          </a:p>
        </p:txBody>
      </p:sp>
      <p:sp>
        <p:nvSpPr>
          <p:cNvPr id="221" name="AFTER"/>
          <p:cNvSpPr txBox="1"/>
          <p:nvPr/>
        </p:nvSpPr>
        <p:spPr>
          <a:xfrm>
            <a:off x="10972800" y="2930172"/>
            <a:ext cx="1054101" cy="311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1398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AFTER</a:t>
            </a:r>
          </a:p>
        </p:txBody>
      </p:sp>
      <p:sp>
        <p:nvSpPr>
          <p:cNvPr id="222" name="“Run the"/>
          <p:cNvSpPr txBox="1"/>
          <p:nvPr/>
        </p:nvSpPr>
        <p:spPr>
          <a:xfrm>
            <a:off x="10972800" y="4358922"/>
            <a:ext cx="4102100" cy="921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5888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“Run the</a:t>
            </a:r>
          </a:p>
        </p:txBody>
      </p:sp>
      <p:sp>
        <p:nvSpPr>
          <p:cNvPr id="223" name="update system.”"/>
          <p:cNvSpPr txBox="1"/>
          <p:nvPr/>
        </p:nvSpPr>
        <p:spPr>
          <a:xfrm>
            <a:off x="10972800" y="5209822"/>
            <a:ext cx="7442201" cy="921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5888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update system.”</a:t>
            </a:r>
          </a:p>
        </p:txBody>
      </p:sp>
      <p:sp>
        <p:nvSpPr>
          <p:cNvPr id="224" name="Inputs, decisions, format, safety, and handoff are explicit."/>
          <p:cNvSpPr txBox="1"/>
          <p:nvPr/>
        </p:nvSpPr>
        <p:spPr>
          <a:xfrm>
            <a:off x="10972800" y="6130572"/>
            <a:ext cx="8547100" cy="375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1766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Inputs, decisions, format, safety, and handoff are explicit.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11.png" descr="1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sp>
        <p:nvSpPr>
          <p:cNvPr id="229" name="12"/>
          <p:cNvSpPr txBox="1"/>
          <p:nvPr/>
        </p:nvSpPr>
        <p:spPr>
          <a:xfrm>
            <a:off x="1524000" y="3552472"/>
            <a:ext cx="3314701" cy="3042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0608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0" name="MINUTES"/>
          <p:cNvSpPr txBox="1"/>
          <p:nvPr/>
        </p:nvSpPr>
        <p:spPr>
          <a:xfrm>
            <a:off x="1524000" y="5965472"/>
            <a:ext cx="1498601" cy="311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1398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MINUTES</a:t>
            </a:r>
          </a:p>
        </p:txBody>
      </p:sp>
      <p:sp>
        <p:nvSpPr>
          <p:cNvPr id="231" name="Build the instruction"/>
          <p:cNvSpPr txBox="1"/>
          <p:nvPr/>
        </p:nvSpPr>
        <p:spPr>
          <a:xfrm>
            <a:off x="8737600" y="3158772"/>
            <a:ext cx="9321800" cy="908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5741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Build the instruction</a:t>
            </a:r>
          </a:p>
        </p:txBody>
      </p:sp>
      <p:sp>
        <p:nvSpPr>
          <p:cNvPr id="232" name="you wish you had."/>
          <p:cNvSpPr txBox="1"/>
          <p:nvPr/>
        </p:nvSpPr>
        <p:spPr>
          <a:xfrm>
            <a:off x="8737600" y="4009672"/>
            <a:ext cx="8128000" cy="908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5741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you wish you had.</a:t>
            </a:r>
          </a:p>
        </p:txBody>
      </p:sp>
      <p:sp>
        <p:nvSpPr>
          <p:cNvPr id="233" name="Choose one repeated handoff. Name the input, judgement, output, and stop condition."/>
          <p:cNvSpPr txBox="1"/>
          <p:nvPr/>
        </p:nvSpPr>
        <p:spPr>
          <a:xfrm>
            <a:off x="8737600" y="4917722"/>
            <a:ext cx="12573000" cy="362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1737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Choose one repeated handoff. Name the input, judgement, output, and stop condition.</a:t>
            </a:r>
          </a:p>
        </p:txBody>
      </p:sp>
      <p:sp>
        <p:nvSpPr>
          <p:cNvPr id="234" name="Someone else can run the first pass without asking what you meant."/>
          <p:cNvSpPr txBox="1"/>
          <p:nvPr/>
        </p:nvSpPr>
        <p:spPr>
          <a:xfrm>
            <a:off x="10871200" y="5755922"/>
            <a:ext cx="8648700" cy="324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1501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Someone else can run the first pass without asking what you meant.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12.png" descr="1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pic>
        <p:nvPicPr>
          <p:cNvPr id="239" name="Approved Always Allow keycap background" descr="Approved Always Allow keycap background"/>
          <p:cNvPicPr>
            <a:picLocks noChangeAspect="1"/>
          </p:cNvPicPr>
          <p:nvPr/>
        </p:nvPicPr>
        <p:blipFill>
          <a:blip r:embed="rId4">
            <a:alphaModFix amt="7000"/>
            <a:extLst/>
          </a:blip>
          <a:stretch>
            <a:fillRect/>
          </a:stretch>
        </p:blipFill>
        <p:spPr>
          <a:xfrm>
            <a:off x="15240000" y="3429000"/>
            <a:ext cx="3808579" cy="3035301"/>
          </a:xfrm>
          <a:prstGeom prst="rect">
            <a:avLst/>
          </a:prstGeom>
          <a:ln w="3175">
            <a:miter lim="400000"/>
          </a:ln>
        </p:spPr>
      </p:pic>
      <p:sp>
        <p:nvSpPr>
          <p:cNvPr id="240" name="Leave with"/>
          <p:cNvSpPr txBox="1"/>
          <p:nvPr/>
        </p:nvSpPr>
        <p:spPr>
          <a:xfrm>
            <a:off x="1524000" y="3279422"/>
            <a:ext cx="7797800" cy="1391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9126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Leave with</a:t>
            </a:r>
          </a:p>
        </p:txBody>
      </p:sp>
      <p:sp>
        <p:nvSpPr>
          <p:cNvPr id="241" name="something that"/>
          <p:cNvSpPr txBox="1"/>
          <p:nvPr/>
        </p:nvSpPr>
        <p:spPr>
          <a:xfrm>
            <a:off x="1524000" y="4549422"/>
            <a:ext cx="11290300" cy="1391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9126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something that</a:t>
            </a:r>
          </a:p>
        </p:txBody>
      </p:sp>
      <p:sp>
        <p:nvSpPr>
          <p:cNvPr id="242" name="works."/>
          <p:cNvSpPr txBox="1"/>
          <p:nvPr/>
        </p:nvSpPr>
        <p:spPr>
          <a:xfrm>
            <a:off x="10261600" y="4549422"/>
            <a:ext cx="4965701" cy="1391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9126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works.</a:t>
            </a:r>
          </a:p>
        </p:txBody>
      </p:sp>
      <p:sp>
        <p:nvSpPr>
          <p:cNvPr id="243" name="AlwaysAllow.com/engagements"/>
          <p:cNvSpPr txBox="1"/>
          <p:nvPr/>
        </p:nvSpPr>
        <p:spPr>
          <a:xfrm>
            <a:off x="1523999" y="8861072"/>
            <a:ext cx="4991101" cy="388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184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AlwaysAllow.com/engagements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13.png" descr="1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sp>
        <p:nvSpPr>
          <p:cNvPr id="248" name="I’m Sarah Madden, but everyone calls me Smadds."/>
          <p:cNvSpPr txBox="1"/>
          <p:nvPr/>
        </p:nvSpPr>
        <p:spPr>
          <a:xfrm>
            <a:off x="1524000" y="1158522"/>
            <a:ext cx="16357600" cy="1924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6403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I’m Sarah Madden, but everyone calls me Smadds.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14.png" descr="1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sp>
        <p:nvSpPr>
          <p:cNvPr id="253" name="Today, we’ll turn one repeated task into a system someone else can run."/>
          <p:cNvSpPr txBox="1"/>
          <p:nvPr/>
        </p:nvSpPr>
        <p:spPr>
          <a:xfrm>
            <a:off x="1524000" y="1158522"/>
            <a:ext cx="16471900" cy="1924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6403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Today, we’ll turn one repeated task into a system someone else can run.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15.png" descr="1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sp>
        <p:nvSpPr>
          <p:cNvPr id="258" name="A system is the judgment you no longer have to repeat."/>
          <p:cNvSpPr txBox="1"/>
          <p:nvPr/>
        </p:nvSpPr>
        <p:spPr>
          <a:xfrm>
            <a:off x="1524000" y="1158522"/>
            <a:ext cx="15722601" cy="1924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6403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 system is the judgment you no longer have to repeat.</a:t>
            </a:r>
          </a:p>
        </p:txBody>
      </p:sp>
      <p:sp>
        <p:nvSpPr>
          <p:cNvPr id="259" name="A repeatable way of working carries enough context and judgment for someone else, or an AI system, to run the first pass."/>
          <p:cNvSpPr txBox="1"/>
          <p:nvPr/>
        </p:nvSpPr>
        <p:spPr>
          <a:xfrm>
            <a:off x="1524000" y="5476522"/>
            <a:ext cx="8458200" cy="2153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3606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 repeatable way of working carries enough context and judgment for someone else, or an AI system, to run the first pass.</a:t>
            </a:r>
          </a:p>
        </p:txBody>
      </p:sp>
      <p:sp>
        <p:nvSpPr>
          <p:cNvPr id="260" name="It knows what to read."/>
          <p:cNvSpPr txBox="1"/>
          <p:nvPr/>
        </p:nvSpPr>
        <p:spPr>
          <a:xfrm>
            <a:off x="12585700" y="6035322"/>
            <a:ext cx="3949701" cy="438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090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It knows what to read.</a:t>
            </a:r>
          </a:p>
        </p:txBody>
      </p:sp>
      <p:sp>
        <p:nvSpPr>
          <p:cNvPr id="261" name="It knows what to decide."/>
          <p:cNvSpPr txBox="1"/>
          <p:nvPr/>
        </p:nvSpPr>
        <p:spPr>
          <a:xfrm>
            <a:off x="12585700" y="6708422"/>
            <a:ext cx="4356101" cy="438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090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It knows what to decide.</a:t>
            </a:r>
          </a:p>
        </p:txBody>
      </p:sp>
      <p:sp>
        <p:nvSpPr>
          <p:cNvPr id="262" name="It knows when to stop."/>
          <p:cNvSpPr txBox="1"/>
          <p:nvPr/>
        </p:nvSpPr>
        <p:spPr>
          <a:xfrm>
            <a:off x="12585700" y="7394222"/>
            <a:ext cx="4038600" cy="438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2090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It knows when to stop.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16.png" descr="1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sp>
        <p:nvSpPr>
          <p:cNvPr id="267" name="Choose work that repeats, has a clear first pass, and still needs judgment."/>
          <p:cNvSpPr txBox="1"/>
          <p:nvPr/>
        </p:nvSpPr>
        <p:spPr>
          <a:xfrm>
            <a:off x="1524000" y="853722"/>
            <a:ext cx="16827500" cy="1924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6403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Choose work that repeats, has a clear first pass, and still needs judgment.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17.png" descr="1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3175">
            <a:miter lim="400000"/>
          </a:ln>
        </p:spPr>
      </p:pic>
      <p:pic>
        <p:nvPicPr>
          <p:cNvPr id="272" name="Approved Always Allow keycap background" descr="Approved Always Allow keycap background"/>
          <p:cNvPicPr>
            <a:picLocks noChangeAspect="1"/>
          </p:cNvPicPr>
          <p:nvPr/>
        </p:nvPicPr>
        <p:blipFill>
          <a:blip r:embed="rId4">
            <a:alphaModFix amt="6000"/>
            <a:extLst/>
          </a:blip>
          <a:stretch>
            <a:fillRect/>
          </a:stretch>
        </p:blipFill>
        <p:spPr>
          <a:xfrm>
            <a:off x="16002000" y="3111500"/>
            <a:ext cx="3426128" cy="2730500"/>
          </a:xfrm>
          <a:prstGeom prst="rect">
            <a:avLst/>
          </a:prstGeom>
          <a:ln w="3175">
            <a:miter lim="400000"/>
          </a:ln>
        </p:spPr>
      </p:pic>
      <p:sp>
        <p:nvSpPr>
          <p:cNvPr id="273" name="TOOLS USED"/>
          <p:cNvSpPr txBox="1"/>
          <p:nvPr/>
        </p:nvSpPr>
        <p:spPr>
          <a:xfrm>
            <a:off x="13779500" y="8264172"/>
            <a:ext cx="2794000" cy="311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1400">
                <a:solidFill>
                  <a:srgbClr val="5286A5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TOOLS USED</a:t>
            </a:r>
          </a:p>
        </p:txBody>
      </p:sp>
      <p:pic>
        <p:nvPicPr>
          <p:cNvPr id="274" name="Replaceable tech stack slot 1: Claude" descr="Replaceable tech stack slot 1: Claud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779500" y="8966200"/>
            <a:ext cx="558800" cy="558800"/>
          </a:xfrm>
          <a:prstGeom prst="rect">
            <a:avLst/>
          </a:prstGeom>
          <a:ln w="3175">
            <a:miter lim="400000"/>
          </a:ln>
        </p:spPr>
      </p:pic>
      <p:pic>
        <p:nvPicPr>
          <p:cNvPr id="275" name="Replaceable tech stack slot 2: Slack" descr="Replaceable tech stack slot 2: Slack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4516100" y="8966200"/>
            <a:ext cx="558800" cy="558800"/>
          </a:xfrm>
          <a:prstGeom prst="rect">
            <a:avLst/>
          </a:prstGeom>
          <a:ln w="3175">
            <a:miter lim="400000"/>
          </a:ln>
        </p:spPr>
      </p:pic>
      <p:pic>
        <p:nvPicPr>
          <p:cNvPr id="276" name="Replaceable tech stack slot 3: Notion" descr="Replaceable tech stack slot 3: Notion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5252700" y="8966199"/>
            <a:ext cx="558800" cy="558801"/>
          </a:xfrm>
          <a:prstGeom prst="rect">
            <a:avLst/>
          </a:prstGeom>
          <a:ln w="3175">
            <a:miter lim="400000"/>
          </a:ln>
        </p:spPr>
      </p:pic>
      <p:pic>
        <p:nvPicPr>
          <p:cNvPr id="277" name="Replaceable tech stack slot 4: Google Drive" descr="Replaceable tech stack slot 4: Google Drive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5989300" y="8966200"/>
            <a:ext cx="558800" cy="558800"/>
          </a:xfrm>
          <a:prstGeom prst="rect">
            <a:avLst/>
          </a:prstGeom>
          <a:ln w="3175">
            <a:miter lim="400000"/>
          </a:ln>
        </p:spPr>
      </p:pic>
      <p:pic>
        <p:nvPicPr>
          <p:cNvPr id="278" name="Replaceable tech stack slot 5: Gmail" descr="Replaceable tech stack slot 5: Gmail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6725900" y="8966199"/>
            <a:ext cx="687754" cy="558801"/>
          </a:xfrm>
          <a:prstGeom prst="rect">
            <a:avLst/>
          </a:prstGeom>
          <a:ln w="3175">
            <a:miter lim="400000"/>
          </a:ln>
        </p:spPr>
      </p:pic>
      <p:pic>
        <p:nvPicPr>
          <p:cNvPr id="279" name="Replaceable tech stack slot 6: ChatGPT" descr="Replaceable tech stack slot 6: ChatGPT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7462500" y="8966200"/>
            <a:ext cx="558800" cy="558800"/>
          </a:xfrm>
          <a:prstGeom prst="rect">
            <a:avLst/>
          </a:prstGeom>
          <a:ln w="3175">
            <a:miter lim="400000"/>
          </a:ln>
        </p:spPr>
      </p:pic>
      <p:pic>
        <p:nvPicPr>
          <p:cNvPr id="280" name="Replaceable tech stack slot 7: Codex" descr="Replaceable tech stack slot 7: Codex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8199100" y="8966200"/>
            <a:ext cx="558800" cy="558800"/>
          </a:xfrm>
          <a:prstGeom prst="rect">
            <a:avLst/>
          </a:prstGeom>
          <a:ln w="3175">
            <a:miter lim="400000"/>
          </a:ln>
        </p:spPr>
      </p:pic>
      <p:sp>
        <p:nvSpPr>
          <p:cNvPr id="281" name="If you remember three things, remember these."/>
          <p:cNvSpPr txBox="1"/>
          <p:nvPr/>
        </p:nvSpPr>
        <p:spPr>
          <a:xfrm>
            <a:off x="1524000" y="1158522"/>
            <a:ext cx="16522700" cy="19247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6403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If you remember three things, remember these.</a:t>
            </a:r>
          </a:p>
        </p:txBody>
      </p:sp>
      <p:sp>
        <p:nvSpPr>
          <p:cNvPr id="282" name="01"/>
          <p:cNvSpPr txBox="1"/>
          <p:nvPr/>
        </p:nvSpPr>
        <p:spPr>
          <a:xfrm>
            <a:off x="1524000" y="6232172"/>
            <a:ext cx="850901" cy="794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5005">
                <a:solidFill>
                  <a:srgbClr val="5286A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83" name="Context changes the output."/>
          <p:cNvSpPr txBox="1"/>
          <p:nvPr/>
        </p:nvSpPr>
        <p:spPr>
          <a:xfrm>
            <a:off x="1524000" y="6867172"/>
            <a:ext cx="4483100" cy="1086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3459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Context changes the output.</a:t>
            </a:r>
          </a:p>
        </p:txBody>
      </p:sp>
      <p:sp>
        <p:nvSpPr>
          <p:cNvPr id="284" name="02"/>
          <p:cNvSpPr txBox="1"/>
          <p:nvPr/>
        </p:nvSpPr>
        <p:spPr>
          <a:xfrm>
            <a:off x="7620000" y="6232172"/>
            <a:ext cx="1016000" cy="794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5005">
                <a:solidFill>
                  <a:srgbClr val="5286A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85" name="Criteria make judgment visible."/>
          <p:cNvSpPr txBox="1"/>
          <p:nvPr/>
        </p:nvSpPr>
        <p:spPr>
          <a:xfrm>
            <a:off x="7620000" y="6867172"/>
            <a:ext cx="5245100" cy="1086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3459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Criteria make judgment visible.</a:t>
            </a:r>
          </a:p>
        </p:txBody>
      </p:sp>
      <p:sp>
        <p:nvSpPr>
          <p:cNvPr id="286" name="03"/>
          <p:cNvSpPr txBox="1"/>
          <p:nvPr/>
        </p:nvSpPr>
        <p:spPr>
          <a:xfrm>
            <a:off x="13716000" y="5952772"/>
            <a:ext cx="1016000" cy="794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5005">
                <a:solidFill>
                  <a:srgbClr val="5286A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87" name="A handoff is real when someone else can run it."/>
          <p:cNvSpPr txBox="1"/>
          <p:nvPr/>
        </p:nvSpPr>
        <p:spPr>
          <a:xfrm>
            <a:off x="13716000" y="6530622"/>
            <a:ext cx="4902200" cy="10865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277" tIns="35277" rIns="35277" bIns="35277" anchor="ctr">
            <a:spAutoFit/>
          </a:bodyPr>
          <a:lstStyle>
            <a:lvl1pPr>
              <a:defRPr sz="3459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 handoff is real when someone else can run it.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687916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5277" tIns="35277" rIns="35277" bIns="35277" numCol="1" spcCol="38100" rtlCol="0" anchor="ctr" upright="0">
        <a:spAutoFit/>
      </a:bodyPr>
      <a:lstStyle>
        <a:defPPr marL="0" marR="0" indent="0" algn="l" defTabSz="687916" rtl="0" fontAlgn="auto" latinLnBrk="0" hangingPunct="0">
          <a:lnSpc>
            <a:spcPct val="100000"/>
          </a:lnSpc>
          <a:spcBef>
            <a:spcPts val="4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687916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5277" tIns="35277" rIns="35277" bIns="35277" numCol="1" spcCol="38100" rtlCol="0" anchor="ctr" upright="0">
        <a:spAutoFit/>
      </a:bodyPr>
      <a:lstStyle>
        <a:defPPr marL="0" marR="0" indent="0" algn="l" defTabSz="687916" rtl="0" fontAlgn="auto" latinLnBrk="0" hangingPunct="0">
          <a:lnSpc>
            <a:spcPct val="100000"/>
          </a:lnSpc>
          <a:spcBef>
            <a:spcPts val="4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