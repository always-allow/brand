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7772400" cy="1005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02456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602456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602456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602456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602456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602456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602456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602456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602456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929292"/>
              </a:solidFill>
              <a:prstDash val="solid"/>
              <a:miter lim="400000"/>
            </a:ln>
          </a:left>
          <a:right>
            <a:ln w="3175" cap="flat">
              <a:solidFill>
                <a:srgbClr val="929292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929292"/>
              </a:solidFill>
              <a:prstDash val="solid"/>
              <a:miter lim="400000"/>
            </a:ln>
          </a:insideH>
          <a:insideV>
            <a:ln w="3175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Template guide: Edit the workshop promise, format, modules, and stack icons. Keep the logo, footer, palette, and spacing consistent.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Always Allow Visual Identity Guide, internal brand source.</a:t>
            </a:r>
          </a:p>
          <a:p>
            <a:pPr/>
            <a:r>
              <a:t>- Always Allow workshop one-pager source, internal.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Shape 2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Template guide: Edit the progression, engagement stages, included deliverables, and call to action. Keep the page structure stable so future workshop handouts remain consistent.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Always Allow Visual Identity Guide, internal brand source.</a:t>
            </a:r>
          </a:p>
          <a:p>
            <a:pPr/>
            <a:r>
              <a:t>- Always Allow workshop one-pager source, internal.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sz="half" idx="21"/>
          </p:nvPr>
        </p:nvSpPr>
        <p:spPr>
          <a:xfrm>
            <a:off x="971550" y="2338461"/>
            <a:ext cx="5829300" cy="3886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759023" y="6129783"/>
            <a:ext cx="6254354" cy="85010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759023" y="6987480"/>
            <a:ext cx="6254354" cy="67553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759023" y="4042469"/>
            <a:ext cx="6254354" cy="1973462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3810297" y="2494061"/>
            <a:ext cx="4910883" cy="491088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569267" y="2494061"/>
            <a:ext cx="3187900" cy="2383335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569267" y="4938117"/>
            <a:ext cx="3187900" cy="2459237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569267" y="2266354"/>
            <a:ext cx="6633866" cy="1290341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xfrm>
            <a:off x="569267" y="2266354"/>
            <a:ext cx="6633866" cy="1290341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half" idx="1"/>
          </p:nvPr>
        </p:nvSpPr>
        <p:spPr>
          <a:xfrm>
            <a:off x="569267" y="3662957"/>
            <a:ext cx="6633866" cy="3757167"/>
          </a:xfrm>
          <a:prstGeom prst="rect">
            <a:avLst/>
          </a:prstGeom>
        </p:spPr>
        <p:txBody>
          <a:bodyPr anchor="ctr"/>
          <a:lstStyle>
            <a:lvl1pPr marL="444500" indent="-444500" algn="l">
              <a:spcBef>
                <a:spcPts val="4300"/>
              </a:spcBef>
              <a:buSzPct val="145000"/>
              <a:buChar char="•"/>
              <a:defRPr sz="3200"/>
            </a:lvl1pPr>
            <a:lvl2pPr marL="889000" indent="-444500" algn="l">
              <a:spcBef>
                <a:spcPts val="4300"/>
              </a:spcBef>
              <a:buSzPct val="145000"/>
              <a:buChar char="•"/>
              <a:defRPr sz="3200"/>
            </a:lvl2pPr>
            <a:lvl3pPr marL="1333500" indent="-444500" algn="l">
              <a:spcBef>
                <a:spcPts val="4300"/>
              </a:spcBef>
              <a:buSzPct val="145000"/>
              <a:buChar char="•"/>
              <a:defRPr sz="3200"/>
            </a:lvl3pPr>
            <a:lvl4pPr marL="1778000" indent="-444500" algn="l">
              <a:spcBef>
                <a:spcPts val="4300"/>
              </a:spcBef>
              <a:buSzPct val="145000"/>
              <a:buChar char="•"/>
              <a:defRPr sz="3200"/>
            </a:lvl4pPr>
            <a:lvl5pPr marL="2222500" indent="-444500" algn="l">
              <a:spcBef>
                <a:spcPts val="4300"/>
              </a:spcBef>
              <a:buSzPct val="145000"/>
              <a:buChar char="•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2277070" y="3662957"/>
            <a:ext cx="5635750" cy="375716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xfrm>
            <a:off x="569267" y="2266354"/>
            <a:ext cx="6633866" cy="1290341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quarter" idx="1"/>
          </p:nvPr>
        </p:nvSpPr>
        <p:spPr>
          <a:xfrm>
            <a:off x="569267" y="3662957"/>
            <a:ext cx="3187900" cy="3757167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spcBef>
                <a:spcPts val="3300"/>
              </a:spcBef>
              <a:buSzPct val="145000"/>
              <a:buChar char="•"/>
              <a:defRPr sz="2800"/>
            </a:lvl1pPr>
            <a:lvl2pPr marL="685800" indent="-342900" algn="l">
              <a:spcBef>
                <a:spcPts val="3300"/>
              </a:spcBef>
              <a:buSzPct val="145000"/>
              <a:buChar char="•"/>
              <a:defRPr sz="2800"/>
            </a:lvl2pPr>
            <a:lvl3pPr marL="1028700" indent="-342900" algn="l">
              <a:spcBef>
                <a:spcPts val="3300"/>
              </a:spcBef>
              <a:buSzPct val="145000"/>
              <a:buChar char="•"/>
              <a:defRPr sz="2800"/>
            </a:lvl3pPr>
            <a:lvl4pPr marL="1371600" indent="-342900" algn="l">
              <a:spcBef>
                <a:spcPts val="3300"/>
              </a:spcBef>
              <a:buSzPct val="145000"/>
              <a:buChar char="•"/>
              <a:defRPr sz="2800"/>
            </a:lvl4pPr>
            <a:lvl5pPr marL="1714500" indent="-342900" algn="l">
              <a:spcBef>
                <a:spcPts val="3300"/>
              </a:spcBef>
              <a:buSzPct val="145000"/>
              <a:buChar char="•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3734485" y="7670601"/>
            <a:ext cx="299382" cy="302023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569267" y="2266354"/>
            <a:ext cx="6633866" cy="1290341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quarter" idx="1"/>
          </p:nvPr>
        </p:nvSpPr>
        <p:spPr>
          <a:xfrm>
            <a:off x="569267" y="3662957"/>
            <a:ext cx="3187900" cy="3757167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spcBef>
                <a:spcPts val="3300"/>
              </a:spcBef>
              <a:buSzPct val="145000"/>
              <a:buChar char="•"/>
              <a:defRPr sz="2800"/>
            </a:lvl1pPr>
            <a:lvl2pPr marL="685800" indent="-342900" algn="l">
              <a:spcBef>
                <a:spcPts val="3300"/>
              </a:spcBef>
              <a:buSzPct val="145000"/>
              <a:buChar char="•"/>
              <a:defRPr sz="2800"/>
            </a:lvl2pPr>
            <a:lvl3pPr marL="1028700" indent="-342900" algn="l">
              <a:spcBef>
                <a:spcPts val="3300"/>
              </a:spcBef>
              <a:buSzPct val="145000"/>
              <a:buChar char="•"/>
              <a:defRPr sz="2800"/>
            </a:lvl3pPr>
            <a:lvl4pPr marL="1371600" indent="-342900" algn="l">
              <a:spcBef>
                <a:spcPts val="3300"/>
              </a:spcBef>
              <a:buSzPct val="145000"/>
              <a:buChar char="•"/>
              <a:defRPr sz="2800"/>
            </a:lvl4pPr>
            <a:lvl5pPr marL="1714500" indent="-342900" algn="l">
              <a:spcBef>
                <a:spcPts val="3300"/>
              </a:spcBef>
              <a:buSzPct val="145000"/>
              <a:buChar char="•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xfrm>
            <a:off x="3734485" y="7670601"/>
            <a:ext cx="299382" cy="302023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xfrm>
            <a:off x="569267" y="2266354"/>
            <a:ext cx="6633866" cy="1290341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569267" y="3662957"/>
            <a:ext cx="3187900" cy="3757167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spcBef>
                <a:spcPts val="3300"/>
              </a:spcBef>
              <a:buSzPct val="145000"/>
              <a:buChar char="•"/>
              <a:defRPr sz="2800"/>
            </a:lvl1pPr>
            <a:lvl2pPr marL="685800" indent="-342900" algn="l">
              <a:spcBef>
                <a:spcPts val="3300"/>
              </a:spcBef>
              <a:buSzPct val="145000"/>
              <a:buChar char="•"/>
              <a:defRPr sz="2800"/>
            </a:lvl2pPr>
            <a:lvl3pPr marL="1028700" indent="-342900" algn="l">
              <a:spcBef>
                <a:spcPts val="3300"/>
              </a:spcBef>
              <a:buSzPct val="145000"/>
              <a:buChar char="•"/>
              <a:defRPr sz="2800"/>
            </a:lvl3pPr>
            <a:lvl4pPr marL="1371600" indent="-342900" algn="l">
              <a:spcBef>
                <a:spcPts val="3300"/>
              </a:spcBef>
              <a:buSzPct val="145000"/>
              <a:buChar char="•"/>
              <a:defRPr sz="2800"/>
            </a:lvl4pPr>
            <a:lvl5pPr marL="1714500" indent="-342900" algn="l">
              <a:spcBef>
                <a:spcPts val="3300"/>
              </a:spcBef>
              <a:buSzPct val="145000"/>
              <a:buChar char="•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xfrm>
            <a:off x="3734485" y="7670601"/>
            <a:ext cx="299382" cy="302023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sz="half" idx="1"/>
          </p:nvPr>
        </p:nvSpPr>
        <p:spPr>
          <a:xfrm>
            <a:off x="569267" y="2873573"/>
            <a:ext cx="6633866" cy="4311254"/>
          </a:xfrm>
          <a:prstGeom prst="rect">
            <a:avLst/>
          </a:prstGeom>
        </p:spPr>
        <p:txBody>
          <a:bodyPr anchor="ctr"/>
          <a:lstStyle>
            <a:lvl1pPr marL="444500" indent="-444500" algn="l">
              <a:spcBef>
                <a:spcPts val="4300"/>
              </a:spcBef>
              <a:buSzPct val="145000"/>
              <a:buChar char="•"/>
              <a:defRPr sz="3200"/>
            </a:lvl1pPr>
            <a:lvl2pPr marL="889000" indent="-444500" algn="l">
              <a:spcBef>
                <a:spcPts val="4300"/>
              </a:spcBef>
              <a:buSzPct val="145000"/>
              <a:buChar char="•"/>
              <a:defRPr sz="3200"/>
            </a:lvl2pPr>
            <a:lvl3pPr marL="1333500" indent="-444500" algn="l">
              <a:spcBef>
                <a:spcPts val="4300"/>
              </a:spcBef>
              <a:buSzPct val="145000"/>
              <a:buChar char="•"/>
              <a:defRPr sz="3200"/>
            </a:lvl3pPr>
            <a:lvl4pPr marL="1778000" indent="-444500" algn="l">
              <a:spcBef>
                <a:spcPts val="4300"/>
              </a:spcBef>
              <a:buSzPct val="145000"/>
              <a:buChar char="•"/>
              <a:defRPr sz="3200"/>
            </a:lvl4pPr>
            <a:lvl5pPr marL="2222500" indent="-444500" algn="l">
              <a:spcBef>
                <a:spcPts val="4300"/>
              </a:spcBef>
              <a:buSzPct val="145000"/>
              <a:buChar char="•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3918458" y="5158233"/>
            <a:ext cx="3381450" cy="22543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quarter" idx="22"/>
          </p:nvPr>
        </p:nvSpPr>
        <p:spPr>
          <a:xfrm>
            <a:off x="4015233" y="2562373"/>
            <a:ext cx="3187900" cy="318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-1692623" y="2645866"/>
            <a:ext cx="7150002" cy="4766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759023" y="5917257"/>
            <a:ext cx="6254354" cy="42048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759023" y="4562586"/>
            <a:ext cx="6254354" cy="568897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-781795" y="2084189"/>
            <a:ext cx="8835034" cy="589002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59023" y="3093690"/>
            <a:ext cx="6254354" cy="197346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59023" y="5127873"/>
            <a:ext cx="6254354" cy="67553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3734485" y="7670601"/>
            <a:ext cx="299382" cy="283429"/>
          </a:xfrm>
          <a:prstGeom prst="rect">
            <a:avLst/>
          </a:prstGeom>
          <a:ln w="3175">
            <a:miter lim="400000"/>
          </a:ln>
        </p:spPr>
        <p:txBody>
          <a:bodyPr wrap="none" lIns="30360" tIns="30360" rIns="30360" bIns="30360">
            <a:spAutoFit/>
          </a:bodyPr>
          <a:lstStyle>
            <a:lvl1pPr algn="ctr">
              <a:spcBef>
                <a:spcPts val="0"/>
              </a:spcBef>
              <a:defRPr sz="160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60245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60245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457200" algn="ctr" defTabSz="60245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914400" algn="ctr" defTabSz="60245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1371600" algn="ctr" defTabSz="60245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1828800" algn="ctr" defTabSz="60245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2286000" algn="ctr" defTabSz="60245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2743200" algn="ctr" defTabSz="60245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3200400" algn="ctr" defTabSz="60245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3657600" algn="ctr" defTabSz="602456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Always Allow workshop one-pager visual shell" descr="Always Allow workshop one-pager visual shell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  <a:ln w="3175">
            <a:miter lim="400000"/>
          </a:ln>
        </p:spPr>
      </p:pic>
      <p:pic>
        <p:nvPicPr>
          <p:cNvPr id="138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8800" y="1219200"/>
            <a:ext cx="279400" cy="279401"/>
          </a:xfrm>
          <a:prstGeom prst="rect">
            <a:avLst/>
          </a:prstGeom>
          <a:ln w="3175">
            <a:miter lim="400000"/>
          </a:ln>
        </p:spPr>
      </p:pic>
      <p:pic>
        <p:nvPicPr>
          <p:cNvPr id="139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8800" y="1549400"/>
            <a:ext cx="1066801" cy="1066801"/>
          </a:xfrm>
          <a:prstGeom prst="rect">
            <a:avLst/>
          </a:prstGeom>
          <a:ln w="3175">
            <a:miter lim="400000"/>
          </a:ln>
        </p:spPr>
      </p:pic>
      <p:pic>
        <p:nvPicPr>
          <p:cNvPr id="140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8800" y="2717800"/>
            <a:ext cx="533400" cy="533401"/>
          </a:xfrm>
          <a:prstGeom prst="rect">
            <a:avLst/>
          </a:prstGeom>
          <a:ln w="3175">
            <a:miter lim="400000"/>
          </a:ln>
        </p:spPr>
      </p:pic>
      <p:pic>
        <p:nvPicPr>
          <p:cNvPr id="141" name="Editable copy background" descr="Editable copy backgroun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5000" y="3606800"/>
            <a:ext cx="533400" cy="533400"/>
          </a:xfrm>
          <a:prstGeom prst="rect">
            <a:avLst/>
          </a:prstGeom>
          <a:ln w="3175">
            <a:miter lim="400000"/>
          </a:ln>
        </p:spPr>
      </p:pic>
      <p:pic>
        <p:nvPicPr>
          <p:cNvPr id="142" name="Editable copy background" descr="Editable copy backgroun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95599" y="3606800"/>
            <a:ext cx="533401" cy="533400"/>
          </a:xfrm>
          <a:prstGeom prst="rect">
            <a:avLst/>
          </a:prstGeom>
          <a:ln w="3175">
            <a:miter lim="400000"/>
          </a:ln>
        </p:spPr>
      </p:pic>
      <p:pic>
        <p:nvPicPr>
          <p:cNvPr id="143" name="Editable copy background" descr="Editable copy backgroun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143500" y="3606800"/>
            <a:ext cx="533400" cy="533400"/>
          </a:xfrm>
          <a:prstGeom prst="rect">
            <a:avLst/>
          </a:prstGeom>
          <a:ln w="3175">
            <a:miter lim="400000"/>
          </a:ln>
        </p:spPr>
      </p:pic>
      <p:pic>
        <p:nvPicPr>
          <p:cNvPr id="144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5800" y="4584700"/>
            <a:ext cx="1816100" cy="1816100"/>
          </a:xfrm>
          <a:prstGeom prst="rect">
            <a:avLst/>
          </a:prstGeom>
          <a:ln w="3175">
            <a:miter lim="400000"/>
          </a:ln>
        </p:spPr>
      </p:pic>
      <p:pic>
        <p:nvPicPr>
          <p:cNvPr id="145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51299" y="4584700"/>
            <a:ext cx="1816101" cy="1816100"/>
          </a:xfrm>
          <a:prstGeom prst="rect">
            <a:avLst/>
          </a:prstGeom>
          <a:ln w="3175">
            <a:miter lim="400000"/>
          </a:ln>
        </p:spPr>
      </p:pic>
      <p:pic>
        <p:nvPicPr>
          <p:cNvPr id="146" name="Editable copy background" descr="Editable copy backgroun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98500" y="6997700"/>
            <a:ext cx="1016000" cy="1016000"/>
          </a:xfrm>
          <a:prstGeom prst="rect">
            <a:avLst/>
          </a:prstGeom>
          <a:ln w="3175">
            <a:miter lim="400000"/>
          </a:ln>
        </p:spPr>
      </p:pic>
      <p:pic>
        <p:nvPicPr>
          <p:cNvPr id="147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97500" y="9588500"/>
            <a:ext cx="304801" cy="304801"/>
          </a:xfrm>
          <a:prstGeom prst="rect">
            <a:avLst/>
          </a:prstGeom>
          <a:ln w="3175">
            <a:miter lim="400000"/>
          </a:ln>
        </p:spPr>
      </p:pic>
      <p:sp>
        <p:nvSpPr>
          <p:cNvPr id="148" name="PRIVATE WORKSHOPS"/>
          <p:cNvSpPr txBox="1"/>
          <p:nvPr/>
        </p:nvSpPr>
        <p:spPr>
          <a:xfrm>
            <a:off x="584200" y="1011039"/>
            <a:ext cx="4191001" cy="2385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000">
                <a:solidFill>
                  <a:srgbClr val="435863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PRIVATE WORKSHOPS</a:t>
            </a:r>
          </a:p>
        </p:txBody>
      </p:sp>
      <p:sp>
        <p:nvSpPr>
          <p:cNvPr id="149" name="See the patterns.…"/>
          <p:cNvSpPr txBox="1"/>
          <p:nvPr/>
        </p:nvSpPr>
        <p:spPr>
          <a:xfrm>
            <a:off x="584200" y="1358304"/>
            <a:ext cx="6096001" cy="14235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b="1" sz="2800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See the patterns.</a:t>
            </a:r>
          </a:p>
          <a:p>
            <a:pPr>
              <a:defRPr b="1" sz="2800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Build your systems.</a:t>
            </a:r>
          </a:p>
        </p:txBody>
      </p:sp>
      <p:sp>
        <p:nvSpPr>
          <p:cNvPr id="150" name="Custom workshops, built around the work your team already does and the systems you want to run."/>
          <p:cNvSpPr txBox="1"/>
          <p:nvPr/>
        </p:nvSpPr>
        <p:spPr>
          <a:xfrm>
            <a:off x="584200" y="2490589"/>
            <a:ext cx="6096000" cy="5433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40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Custom workshops, built around the work your team already does and the systems you want to run.</a:t>
            </a:r>
          </a:p>
        </p:txBody>
      </p:sp>
      <p:sp>
        <p:nvSpPr>
          <p:cNvPr id="151" name="Up to 12…"/>
          <p:cNvSpPr txBox="1"/>
          <p:nvPr/>
        </p:nvSpPr>
        <p:spPr>
          <a:xfrm>
            <a:off x="736599" y="2850554"/>
            <a:ext cx="1778001" cy="10933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4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Up to 12</a:t>
            </a:r>
          </a:p>
          <a:p>
            <a:pPr>
              <a:defRPr sz="14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people in one room</a:t>
            </a:r>
          </a:p>
        </p:txBody>
      </p:sp>
      <p:sp>
        <p:nvSpPr>
          <p:cNvPr id="152" name="4 hours…"/>
          <p:cNvSpPr txBox="1"/>
          <p:nvPr/>
        </p:nvSpPr>
        <p:spPr>
          <a:xfrm>
            <a:off x="2971800" y="2850554"/>
            <a:ext cx="1778000" cy="10933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4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4 hours</a:t>
            </a:r>
          </a:p>
          <a:p>
            <a:pPr>
              <a:defRPr sz="14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one working session</a:t>
            </a:r>
          </a:p>
        </p:txBody>
      </p:sp>
      <p:sp>
        <p:nvSpPr>
          <p:cNvPr id="153" name="Your stack…"/>
          <p:cNvSpPr txBox="1"/>
          <p:nvPr/>
        </p:nvSpPr>
        <p:spPr>
          <a:xfrm>
            <a:off x="5219700" y="2488604"/>
            <a:ext cx="1803400" cy="13346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4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Your stack</a:t>
            </a:r>
          </a:p>
          <a:p>
            <a:pPr>
              <a:defRPr sz="14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custom tools and access</a:t>
            </a:r>
          </a:p>
        </p:txBody>
      </p:sp>
      <p:sp>
        <p:nvSpPr>
          <p:cNvPr id="154" name="FOUNDATIONS"/>
          <p:cNvSpPr txBox="1"/>
          <p:nvPr/>
        </p:nvSpPr>
        <p:spPr>
          <a:xfrm>
            <a:off x="787400" y="4395589"/>
            <a:ext cx="2413000" cy="2131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900">
                <a:solidFill>
                  <a:srgbClr val="5286A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FOUNDATIONS</a:t>
            </a:r>
          </a:p>
        </p:txBody>
      </p:sp>
      <p:sp>
        <p:nvSpPr>
          <p:cNvPr id="155" name="Asking to Directing"/>
          <p:cNvSpPr txBox="1"/>
          <p:nvPr/>
        </p:nvSpPr>
        <p:spPr>
          <a:xfrm>
            <a:off x="787400" y="4719439"/>
            <a:ext cx="2667000" cy="3147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500">
                <a:solidFill>
                  <a:srgbClr val="435863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Asking to Directing</a:t>
            </a:r>
          </a:p>
        </p:txBody>
      </p:sp>
      <p:sp>
        <p:nvSpPr>
          <p:cNvPr id="156" name="○  Judgement on inputs, tools, and permissions…"/>
          <p:cNvSpPr txBox="1"/>
          <p:nvPr/>
        </p:nvSpPr>
        <p:spPr>
          <a:xfrm>
            <a:off x="787400" y="2746970"/>
            <a:ext cx="2717800" cy="230386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○  Judgement on inputs, tools, and permissions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○  Personal and company context matched to the work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○  Your tools connected and a first shared skill built</a:t>
            </a:r>
          </a:p>
        </p:txBody>
      </p:sp>
      <p:sp>
        <p:nvSpPr>
          <p:cNvPr id="157" name="SKILLS &amp; AUTOMATIONS"/>
          <p:cNvSpPr txBox="1"/>
          <p:nvPr/>
        </p:nvSpPr>
        <p:spPr>
          <a:xfrm>
            <a:off x="4152900" y="4154289"/>
            <a:ext cx="2730500" cy="2131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900">
                <a:solidFill>
                  <a:srgbClr val="5286A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SKILLS &amp; AUTOMATIONS</a:t>
            </a:r>
          </a:p>
        </p:txBody>
      </p:sp>
      <p:sp>
        <p:nvSpPr>
          <p:cNvPr id="158" name="Directing to Operating"/>
          <p:cNvSpPr txBox="1"/>
          <p:nvPr/>
        </p:nvSpPr>
        <p:spPr>
          <a:xfrm>
            <a:off x="4152900" y="4719439"/>
            <a:ext cx="2730500" cy="3147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500">
                <a:solidFill>
                  <a:srgbClr val="435863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Directing to Operating</a:t>
            </a:r>
          </a:p>
        </p:txBody>
      </p:sp>
      <p:sp>
        <p:nvSpPr>
          <p:cNvPr id="159" name="○  A shortlist of what to automate first…"/>
          <p:cNvSpPr txBox="1"/>
          <p:nvPr/>
        </p:nvSpPr>
        <p:spPr>
          <a:xfrm>
            <a:off x="4152900" y="2937470"/>
            <a:ext cx="2755900" cy="192286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○  A shortlist of what to automate first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○  Skills and agents built as a group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○  Start read only, then expand with clear permission boundaries</a:t>
            </a:r>
          </a:p>
        </p:txBody>
      </p:sp>
      <p:sp>
        <p:nvSpPr>
          <p:cNvPr id="160" name="One workshop away from a working first run."/>
          <p:cNvSpPr txBox="1"/>
          <p:nvPr/>
        </p:nvSpPr>
        <p:spPr>
          <a:xfrm>
            <a:off x="787400" y="6808589"/>
            <a:ext cx="4000500" cy="3147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500">
                <a:solidFill>
                  <a:srgbClr val="435863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One workshop away from a working first run.</a:t>
            </a:r>
          </a:p>
        </p:txBody>
      </p:sp>
      <p:sp>
        <p:nvSpPr>
          <p:cNvPr id="161" name="Replace the sample icons with the tools your team uses."/>
          <p:cNvSpPr txBox="1"/>
          <p:nvPr/>
        </p:nvSpPr>
        <p:spPr>
          <a:xfrm>
            <a:off x="787400" y="7278489"/>
            <a:ext cx="4000500" cy="2385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00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Replace the sample icons with the tools your team uses.</a:t>
            </a:r>
          </a:p>
        </p:txBody>
      </p:sp>
      <p:sp>
        <p:nvSpPr>
          <p:cNvPr id="162" name="CUSTOMIZE YOUR STACK"/>
          <p:cNvSpPr txBox="1"/>
          <p:nvPr/>
        </p:nvSpPr>
        <p:spPr>
          <a:xfrm>
            <a:off x="5080000" y="6554589"/>
            <a:ext cx="1968500" cy="2004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800">
                <a:solidFill>
                  <a:srgbClr val="5286A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CUSTOMIZE YOUR STACK</a:t>
            </a:r>
          </a:p>
        </p:txBody>
      </p:sp>
      <p:pic>
        <p:nvPicPr>
          <p:cNvPr id="163" name="Replaceable tool icon: ChatGPT" descr="Replaceable tool icon: ChatGPT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143500" y="7340600"/>
            <a:ext cx="355600" cy="355600"/>
          </a:xfrm>
          <a:prstGeom prst="rect">
            <a:avLst/>
          </a:prstGeom>
          <a:ln w="3175">
            <a:miter lim="400000"/>
          </a:ln>
        </p:spPr>
      </p:pic>
      <p:pic>
        <p:nvPicPr>
          <p:cNvPr id="164" name="Replaceable tool icon: Notion" descr="Replaceable tool icon: Notion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600700" y="7340600"/>
            <a:ext cx="355600" cy="355600"/>
          </a:xfrm>
          <a:prstGeom prst="rect">
            <a:avLst/>
          </a:prstGeom>
          <a:ln w="3175">
            <a:miter lim="400000"/>
          </a:ln>
        </p:spPr>
      </p:pic>
      <p:pic>
        <p:nvPicPr>
          <p:cNvPr id="165" name="Replaceable tool icon: Slack" descr="Replaceable tool icon: Slack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057900" y="7340600"/>
            <a:ext cx="355600" cy="355600"/>
          </a:xfrm>
          <a:prstGeom prst="rect">
            <a:avLst/>
          </a:prstGeom>
          <a:ln w="3175">
            <a:miter lim="400000"/>
          </a:ln>
        </p:spPr>
      </p:pic>
      <p:pic>
        <p:nvPicPr>
          <p:cNvPr id="166" name="Replaceable tool icon: Google Drive" descr="Replaceable tool icon: Google Drive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515100" y="7340600"/>
            <a:ext cx="355600" cy="355600"/>
          </a:xfrm>
          <a:prstGeom prst="rect">
            <a:avLst/>
          </a:prstGeom>
          <a:ln w="3175">
            <a:miter lim="400000"/>
          </a:ln>
        </p:spPr>
      </p:pic>
      <p:sp>
        <p:nvSpPr>
          <p:cNvPr id="167" name="Do not distribute or reproduce  ·  01"/>
          <p:cNvSpPr txBox="1"/>
          <p:nvPr/>
        </p:nvSpPr>
        <p:spPr>
          <a:xfrm>
            <a:off x="5461000" y="8700889"/>
            <a:ext cx="1778000" cy="2004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80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Do not distribute or reproduce  ·  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Always Allow workshop one-pager visual shell" descr="Always Allow workshop one-pager visual shell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2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8799" y="1168400"/>
            <a:ext cx="279401" cy="279401"/>
          </a:xfrm>
          <a:prstGeom prst="rect">
            <a:avLst/>
          </a:prstGeom>
          <a:ln w="3175">
            <a:miter lim="400000"/>
          </a:ln>
        </p:spPr>
      </p:pic>
      <p:pic>
        <p:nvPicPr>
          <p:cNvPr id="173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8800" y="1485900"/>
            <a:ext cx="508000" cy="5080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4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9600" y="2209799"/>
            <a:ext cx="800100" cy="800101"/>
          </a:xfrm>
          <a:prstGeom prst="rect">
            <a:avLst/>
          </a:prstGeom>
          <a:ln w="3175">
            <a:miter lim="400000"/>
          </a:ln>
        </p:spPr>
      </p:pic>
      <p:pic>
        <p:nvPicPr>
          <p:cNvPr id="175" name="Editable copy background" descr="Editable copy backgroun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73099" y="3594100"/>
            <a:ext cx="1143001" cy="11430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6" name="Editable copy background" descr="Editable copy backgroun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908300" y="3594100"/>
            <a:ext cx="1143001" cy="11430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7" name="Editable copy background" descr="Editable copy backgroun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143500" y="3594100"/>
            <a:ext cx="1143000" cy="11430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8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499" y="5067300"/>
            <a:ext cx="1092201" cy="1092201"/>
          </a:xfrm>
          <a:prstGeom prst="rect">
            <a:avLst/>
          </a:prstGeom>
          <a:ln w="3175">
            <a:miter lim="400000"/>
          </a:ln>
        </p:spPr>
      </p:pic>
      <p:pic>
        <p:nvPicPr>
          <p:cNvPr id="179" name="Editable copy background" descr="Editable copy backgroun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98500" y="6807200"/>
            <a:ext cx="876300" cy="876300"/>
          </a:xfrm>
          <a:prstGeom prst="rect">
            <a:avLst/>
          </a:prstGeom>
          <a:ln w="3175">
            <a:miter lim="400000"/>
          </a:ln>
        </p:spPr>
      </p:pic>
      <p:pic>
        <p:nvPicPr>
          <p:cNvPr id="180" name="Editable copy background" descr="Editable copy background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97500" y="9588500"/>
            <a:ext cx="304801" cy="304801"/>
          </a:xfrm>
          <a:prstGeom prst="rect">
            <a:avLst/>
          </a:prstGeom>
          <a:ln w="3175">
            <a:miter lim="400000"/>
          </a:ln>
        </p:spPr>
      </p:pic>
      <p:sp>
        <p:nvSpPr>
          <p:cNvPr id="181" name="THE WORKING PROGRESSION"/>
          <p:cNvSpPr txBox="1"/>
          <p:nvPr/>
        </p:nvSpPr>
        <p:spPr>
          <a:xfrm>
            <a:off x="584200" y="960239"/>
            <a:ext cx="4318001" cy="2385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000">
                <a:solidFill>
                  <a:srgbClr val="435863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THE WORKING PROGRESSION</a:t>
            </a:r>
          </a:p>
        </p:txBody>
      </p:sp>
      <p:sp>
        <p:nvSpPr>
          <p:cNvPr id="182" name="Move from one answer to a system that runs."/>
          <p:cNvSpPr txBox="1"/>
          <p:nvPr/>
        </p:nvSpPr>
        <p:spPr>
          <a:xfrm>
            <a:off x="584200" y="1392039"/>
            <a:ext cx="5969000" cy="6957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b="1" sz="2200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Move from one answer to a system that runs.</a:t>
            </a:r>
          </a:p>
        </p:txBody>
      </p:sp>
      <p:sp>
        <p:nvSpPr>
          <p:cNvPr id="183" name="Asking…"/>
          <p:cNvSpPr txBox="1"/>
          <p:nvPr/>
        </p:nvSpPr>
        <p:spPr>
          <a:xfrm>
            <a:off x="711200" y="1034454"/>
            <a:ext cx="1422401" cy="11822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Asking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One question, one answer.</a:t>
            </a:r>
          </a:p>
        </p:txBody>
      </p:sp>
      <p:sp>
        <p:nvSpPr>
          <p:cNvPr id="184" name="Directing…"/>
          <p:cNvSpPr txBox="1"/>
          <p:nvPr/>
        </p:nvSpPr>
        <p:spPr>
          <a:xfrm>
            <a:off x="2349500" y="1034454"/>
            <a:ext cx="1498600" cy="11822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Directing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You say how, not just what.</a:t>
            </a:r>
          </a:p>
        </p:txBody>
      </p:sp>
      <p:sp>
        <p:nvSpPr>
          <p:cNvPr id="185" name="Delegating…"/>
          <p:cNvSpPr txBox="1"/>
          <p:nvPr/>
        </p:nvSpPr>
        <p:spPr>
          <a:xfrm>
            <a:off x="4000500" y="589954"/>
            <a:ext cx="1498600" cy="11822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Delegating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Whole pieces of work, handed over.</a:t>
            </a:r>
          </a:p>
        </p:txBody>
      </p:sp>
      <p:sp>
        <p:nvSpPr>
          <p:cNvPr id="186" name="Operating…"/>
          <p:cNvSpPr txBox="1"/>
          <p:nvPr/>
        </p:nvSpPr>
        <p:spPr>
          <a:xfrm>
            <a:off x="5651500" y="291504"/>
            <a:ext cx="1460500" cy="13727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Operating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Systems that run while you do something else.</a:t>
            </a:r>
          </a:p>
        </p:txBody>
      </p:sp>
      <p:sp>
        <p:nvSpPr>
          <p:cNvPr id="187" name="01"/>
          <p:cNvSpPr txBox="1"/>
          <p:nvPr/>
        </p:nvSpPr>
        <p:spPr>
          <a:xfrm>
            <a:off x="761999" y="3354189"/>
            <a:ext cx="508001" cy="3655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b="1" sz="2100">
                <a:solidFill>
                  <a:srgbClr val="24668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88" name="Before"/>
          <p:cNvSpPr txBox="1"/>
          <p:nvPr/>
        </p:nvSpPr>
        <p:spPr>
          <a:xfrm>
            <a:off x="762000" y="4039989"/>
            <a:ext cx="1524001" cy="3147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500">
                <a:solidFill>
                  <a:srgbClr val="435863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Before</a:t>
            </a:r>
          </a:p>
        </p:txBody>
      </p:sp>
      <p:sp>
        <p:nvSpPr>
          <p:cNvPr id="189" name="A prep call narrows the field to the real work, audience, and tech stack."/>
          <p:cNvSpPr txBox="1"/>
          <p:nvPr/>
        </p:nvSpPr>
        <p:spPr>
          <a:xfrm>
            <a:off x="762000" y="2230239"/>
            <a:ext cx="1689100" cy="5941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00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A prep call narrows the field to the real work, audience, and tech stack.</a:t>
            </a:r>
          </a:p>
        </p:txBody>
      </p:sp>
      <p:sp>
        <p:nvSpPr>
          <p:cNvPr id="190" name="02"/>
          <p:cNvSpPr txBox="1"/>
          <p:nvPr/>
        </p:nvSpPr>
        <p:spPr>
          <a:xfrm>
            <a:off x="2997200" y="3354189"/>
            <a:ext cx="508000" cy="3655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b="1" sz="2100">
                <a:solidFill>
                  <a:srgbClr val="24668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91" name="In the room"/>
          <p:cNvSpPr txBox="1"/>
          <p:nvPr/>
        </p:nvSpPr>
        <p:spPr>
          <a:xfrm>
            <a:off x="2997200" y="3798689"/>
            <a:ext cx="1524000" cy="3147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500">
                <a:solidFill>
                  <a:srgbClr val="435863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In the room</a:t>
            </a:r>
          </a:p>
        </p:txBody>
      </p:sp>
      <p:sp>
        <p:nvSpPr>
          <p:cNvPr id="192" name="The group builds at the level it is already at, using real work."/>
          <p:cNvSpPr txBox="1"/>
          <p:nvPr/>
        </p:nvSpPr>
        <p:spPr>
          <a:xfrm>
            <a:off x="2997200" y="2712839"/>
            <a:ext cx="1689100" cy="5941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00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group builds at the level it is already at, using real work.</a:t>
            </a:r>
          </a:p>
        </p:txBody>
      </p:sp>
      <p:sp>
        <p:nvSpPr>
          <p:cNvPr id="193" name="03"/>
          <p:cNvSpPr txBox="1"/>
          <p:nvPr/>
        </p:nvSpPr>
        <p:spPr>
          <a:xfrm>
            <a:off x="5232400" y="3354189"/>
            <a:ext cx="508001" cy="3655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b="1" sz="2100">
                <a:solidFill>
                  <a:srgbClr val="24668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94" name="After"/>
          <p:cNvSpPr txBox="1"/>
          <p:nvPr/>
        </p:nvSpPr>
        <p:spPr>
          <a:xfrm>
            <a:off x="5232400" y="4039989"/>
            <a:ext cx="1524000" cy="3147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500">
                <a:solidFill>
                  <a:srgbClr val="435863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After</a:t>
            </a:r>
          </a:p>
        </p:txBody>
      </p:sp>
      <p:sp>
        <p:nvSpPr>
          <p:cNvPr id="195" name="The team has what it made, a skill-build roadmap, and the next useful run."/>
          <p:cNvSpPr txBox="1"/>
          <p:nvPr/>
        </p:nvSpPr>
        <p:spPr>
          <a:xfrm>
            <a:off x="5232400" y="1988938"/>
            <a:ext cx="1689100" cy="59412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00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team has what it made, a skill-build roadmap, and the next useful run.</a:t>
            </a:r>
          </a:p>
        </p:txBody>
      </p:sp>
      <p:sp>
        <p:nvSpPr>
          <p:cNvPr id="196" name="INCLUDED"/>
          <p:cNvSpPr txBox="1"/>
          <p:nvPr/>
        </p:nvSpPr>
        <p:spPr>
          <a:xfrm>
            <a:off x="584199" y="4859139"/>
            <a:ext cx="1651001" cy="2385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000">
                <a:solidFill>
                  <a:srgbClr val="435863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INCLUDED</a:t>
            </a:r>
          </a:p>
        </p:txBody>
      </p:sp>
      <p:sp>
        <p:nvSpPr>
          <p:cNvPr id="197" name="Prep call…"/>
          <p:cNvSpPr txBox="1"/>
          <p:nvPr/>
        </p:nvSpPr>
        <p:spPr>
          <a:xfrm>
            <a:off x="711200" y="4488854"/>
            <a:ext cx="1841500" cy="11822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Prep call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Choose the right problem and level.</a:t>
            </a:r>
          </a:p>
        </p:txBody>
      </p:sp>
      <p:sp>
        <p:nvSpPr>
          <p:cNvPr id="198" name="Skill-build roadmap…"/>
          <p:cNvSpPr txBox="1"/>
          <p:nvPr/>
        </p:nvSpPr>
        <p:spPr>
          <a:xfrm>
            <a:off x="2946400" y="3764954"/>
            <a:ext cx="1841500" cy="11822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Skill-build roadmap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Keep the next useful builds visible.</a:t>
            </a:r>
          </a:p>
        </p:txBody>
      </p:sp>
      <p:sp>
        <p:nvSpPr>
          <p:cNvPr id="199" name="Virtual check-in…"/>
          <p:cNvSpPr txBox="1"/>
          <p:nvPr/>
        </p:nvSpPr>
        <p:spPr>
          <a:xfrm>
            <a:off x="5194300" y="4044354"/>
            <a:ext cx="1841500" cy="11822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/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Virtual check-in</a:t>
            </a:r>
          </a:p>
          <a:p>
            <a:pPr>
              <a:defRPr sz="1100">
                <a:solidFill>
                  <a:srgbClr val="43586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Return to what is working and what is not.</a:t>
            </a:r>
          </a:p>
        </p:txBody>
      </p:sp>
      <p:sp>
        <p:nvSpPr>
          <p:cNvPr id="200" name="Bring it to your team."/>
          <p:cNvSpPr txBox="1"/>
          <p:nvPr/>
        </p:nvSpPr>
        <p:spPr>
          <a:xfrm>
            <a:off x="863600" y="6916539"/>
            <a:ext cx="4000500" cy="3782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b="1" sz="2200">
                <a:solidFill>
                  <a:srgbClr val="43586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Bring it to your team.</a:t>
            </a:r>
          </a:p>
        </p:txBody>
      </p:sp>
      <p:sp>
        <p:nvSpPr>
          <p:cNvPr id="201" name="Start at AlwaysAllow.com/engagements"/>
          <p:cNvSpPr txBox="1"/>
          <p:nvPr/>
        </p:nvSpPr>
        <p:spPr>
          <a:xfrm>
            <a:off x="863600" y="6897489"/>
            <a:ext cx="4000500" cy="2639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120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Start at AlwaysAllow.com/engagements</a:t>
            </a:r>
          </a:p>
        </p:txBody>
      </p:sp>
      <p:sp>
        <p:nvSpPr>
          <p:cNvPr id="202" name="Do not distribute or reproduce  ·  02"/>
          <p:cNvSpPr txBox="1"/>
          <p:nvPr/>
        </p:nvSpPr>
        <p:spPr>
          <a:xfrm>
            <a:off x="5461000" y="8700889"/>
            <a:ext cx="1778000" cy="2004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360" tIns="30360" rIns="30360" bIns="30360" anchor="ctr">
            <a:spAutoFit/>
          </a:bodyPr>
          <a:lstStyle>
            <a:lvl1pPr>
              <a:defRPr sz="800">
                <a:solidFill>
                  <a:srgbClr val="5286A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Do not distribute or reproduce  ·  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0360" tIns="30360" rIns="30360" bIns="30360" numCol="1" spcCol="38100" rtlCol="0" anchor="ctr" upright="0">
        <a:spAutoFit/>
      </a:bodyPr>
      <a:lstStyle>
        <a:defPPr marL="0" marR="0" indent="0" algn="ctr" defTabSz="60245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0360" tIns="30360" rIns="30360" bIns="30360" numCol="1" spcCol="38100" rtlCol="0" anchor="ctr" upright="0">
        <a:spAutoFit/>
      </a:bodyPr>
      <a:lstStyle>
        <a:defPPr marL="0" marR="0" indent="0" algn="l" defTabSz="602456" rtl="0" fontAlgn="auto" latinLnBrk="0" hangingPunct="0">
          <a:lnSpc>
            <a:spcPct val="100000"/>
          </a:lnSpc>
          <a:spcBef>
            <a:spcPts val="43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0360" tIns="30360" rIns="30360" bIns="30360" numCol="1" spcCol="38100" rtlCol="0" anchor="ctr" upright="0">
        <a:spAutoFit/>
      </a:bodyPr>
      <a:lstStyle>
        <a:defPPr marL="0" marR="0" indent="0" algn="ctr" defTabSz="60245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0360" tIns="30360" rIns="30360" bIns="30360" numCol="1" spcCol="38100" rtlCol="0" anchor="ctr" upright="0">
        <a:spAutoFit/>
      </a:bodyPr>
      <a:lstStyle>
        <a:defPPr marL="0" marR="0" indent="0" algn="l" defTabSz="602456" rtl="0" fontAlgn="auto" latinLnBrk="0" hangingPunct="0">
          <a:lnSpc>
            <a:spcPct val="100000"/>
          </a:lnSpc>
          <a:spcBef>
            <a:spcPts val="43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